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6" r:id="rId4"/>
    <p:sldId id="258" r:id="rId5"/>
    <p:sldId id="271" r:id="rId6"/>
    <p:sldId id="259" r:id="rId7"/>
    <p:sldId id="260" r:id="rId8"/>
    <p:sldId id="261" r:id="rId9"/>
    <p:sldId id="272" r:id="rId10"/>
    <p:sldId id="269" r:id="rId11"/>
    <p:sldId id="262" r:id="rId12"/>
    <p:sldId id="263" r:id="rId13"/>
    <p:sldId id="264" r:id="rId14"/>
    <p:sldId id="270" r:id="rId15"/>
    <p:sldId id="265" r:id="rId16"/>
    <p:sldId id="266" r:id="rId17"/>
    <p:sldId id="273" r:id="rId18"/>
    <p:sldId id="267" r:id="rId19"/>
    <p:sldId id="268"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01C4C25-B7FD-4340-B24D-1E240A0E64E0}">
          <p14:sldIdLst>
            <p14:sldId id="256"/>
            <p14:sldId id="257"/>
            <p14:sldId id="276"/>
            <p14:sldId id="258"/>
            <p14:sldId id="271"/>
          </p14:sldIdLst>
        </p14:section>
        <p14:section name="Database" id="{3F32D93C-C185-4CBB-97DE-A719D2A4FE19}">
          <p14:sldIdLst>
            <p14:sldId id="259"/>
            <p14:sldId id="260"/>
            <p14:sldId id="261"/>
            <p14:sldId id="272"/>
            <p14:sldId id="269"/>
          </p14:sldIdLst>
        </p14:section>
        <p14:section name="Analysis" id="{63EEE73B-68C6-4A7F-BFD0-FFAB255658E8}">
          <p14:sldIdLst>
            <p14:sldId id="262"/>
            <p14:sldId id="263"/>
            <p14:sldId id="264"/>
            <p14:sldId id="270"/>
            <p14:sldId id="265"/>
            <p14:sldId id="266"/>
            <p14:sldId id="273"/>
          </p14:sldIdLst>
        </p14:section>
        <p14:section name="Conclusion" id="{24CC7F9F-3404-4539-98E1-2526041DAABF}">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GB" sz="1400" b="0" i="0" u="none" strike="noStrike">
                <a:solidFill>
                  <a:srgbClr val="0B1F3A"/>
                </a:solidFill>
                <a:latin typeface="+mn-lt"/>
              </a:rPr>
              <a:t>Average per completed trip (ZAR)</a:t>
            </a:r>
          </a:p>
        </c:rich>
      </c:tx>
      <c:overlay val="0"/>
    </c:title>
    <c:autoTitleDeleted val="0"/>
    <c:plotArea>
      <c:layout/>
      <c:barChart>
        <c:barDir val="col"/>
        <c:grouping val="clustered"/>
        <c:varyColors val="0"/>
        <c:ser>
          <c:idx val="0"/>
          <c:order val="0"/>
          <c:tx>
            <c:strRef>
              <c:f>Sheet1!$B$1</c:f>
              <c:strCache>
                <c:ptCount val="1"/>
                <c:pt idx="0">
                  <c:v>Avg driver payout</c:v>
                </c:pt>
              </c:strCache>
            </c:strRef>
          </c:tx>
          <c:spPr>
            <a:solidFill>
              <a:srgbClr val="1FA89A"/>
            </a:solidFill>
            <a:effectLst/>
          </c:spPr>
          <c:invertIfNegative val="0"/>
          <c:dLbls>
            <c:numFmt formatCode="&quot;R&quot;#,##0.0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Bolt (20%)</c:v>
                </c:pt>
                <c:pt idx="1">
                  <c:v>Dual-Platform (22%)</c:v>
                </c:pt>
                <c:pt idx="2">
                  <c:v>Uber (25%)</c:v>
                </c:pt>
              </c:strCache>
            </c:strRef>
          </c:cat>
          <c:val>
            <c:numRef>
              <c:f>Sheet1!$B$2:$B$4</c:f>
              <c:numCache>
                <c:formatCode>General</c:formatCode>
                <c:ptCount val="3"/>
                <c:pt idx="0">
                  <c:v>377.56</c:v>
                </c:pt>
                <c:pt idx="1">
                  <c:v>362.92</c:v>
                </c:pt>
                <c:pt idx="2">
                  <c:v>351.25</c:v>
                </c:pt>
              </c:numCache>
            </c:numRef>
          </c:val>
          <c:extLst>
            <c:ext xmlns:c16="http://schemas.microsoft.com/office/drawing/2014/chart" uri="{C3380CC4-5D6E-409C-BE32-E72D297353CC}">
              <c16:uniqueId val="{00000000-95BA-470D-AF94-D589DE64E05D}"/>
            </c:ext>
          </c:extLst>
        </c:ser>
        <c:ser>
          <c:idx val="1"/>
          <c:order val="1"/>
          <c:tx>
            <c:strRef>
              <c:f>Sheet1!$C$1</c:f>
              <c:strCache>
                <c:ptCount val="1"/>
                <c:pt idx="0">
                  <c:v>Avg platform commission</c:v>
                </c:pt>
              </c:strCache>
            </c:strRef>
          </c:tx>
          <c:spPr>
            <a:solidFill>
              <a:srgbClr val="E4572E"/>
            </a:solidFill>
            <a:effectLst/>
          </c:spPr>
          <c:invertIfNegative val="0"/>
          <c:dLbls>
            <c:numFmt formatCode="&quot;R&quot;#,##0.0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Bolt (20%)</c:v>
                </c:pt>
                <c:pt idx="1">
                  <c:v>Dual-Platform (22%)</c:v>
                </c:pt>
                <c:pt idx="2">
                  <c:v>Uber (25%)</c:v>
                </c:pt>
              </c:strCache>
            </c:strRef>
          </c:cat>
          <c:val>
            <c:numRef>
              <c:f>Sheet1!$C$2:$C$4</c:f>
              <c:numCache>
                <c:formatCode>General</c:formatCode>
                <c:ptCount val="3"/>
                <c:pt idx="0">
                  <c:v>89.57</c:v>
                </c:pt>
                <c:pt idx="1">
                  <c:v>96.97</c:v>
                </c:pt>
                <c:pt idx="2">
                  <c:v>110.65</c:v>
                </c:pt>
              </c:numCache>
            </c:numRef>
          </c:val>
          <c:extLst>
            <c:ext xmlns:c16="http://schemas.microsoft.com/office/drawing/2014/chart" uri="{C3380CC4-5D6E-409C-BE32-E72D297353CC}">
              <c16:uniqueId val="{00000001-95BA-470D-AF94-D589DE64E05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3E8EF"/>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4546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GB" sz="1400" b="0" i="0" u="none" strike="noStrike">
                <a:solidFill>
                  <a:srgbClr val="0B1F3A"/>
                </a:solidFill>
                <a:latin typeface="+mn-lt"/>
              </a:rPr>
              <a:t>Average driver payout per completed trip (ZAR)</a:t>
            </a:r>
          </a:p>
        </c:rich>
      </c:tx>
      <c:overlay val="0"/>
    </c:title>
    <c:autoTitleDeleted val="0"/>
    <c:plotArea>
      <c:layout/>
      <c:barChart>
        <c:barDir val="col"/>
        <c:grouping val="clustered"/>
        <c:varyColors val="0"/>
        <c:ser>
          <c:idx val="0"/>
          <c:order val="0"/>
          <c:tx>
            <c:strRef>
              <c:f>Sheet1!$B$1</c:f>
              <c:strCache>
                <c:ptCount val="1"/>
                <c:pt idx="0">
                  <c:v>Avg driver payout</c:v>
                </c:pt>
              </c:strCache>
            </c:strRef>
          </c:tx>
          <c:spPr>
            <a:solidFill>
              <a:srgbClr val="1FA89A"/>
            </a:solidFill>
            <a:effectLst/>
          </c:spPr>
          <c:invertIfNegative val="0"/>
          <c:dLbls>
            <c:numFmt formatCode="&quot;R&quot;#,##0.0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Standard</c:v>
                </c:pt>
                <c:pt idx="1">
                  <c:v>Large Capacity</c:v>
                </c:pt>
                <c:pt idx="2">
                  <c:v>Budget</c:v>
                </c:pt>
                <c:pt idx="3">
                  <c:v>Comfort</c:v>
                </c:pt>
              </c:strCache>
            </c:strRef>
          </c:cat>
          <c:val>
            <c:numRef>
              <c:f>Sheet1!$B$2:$B$5</c:f>
              <c:numCache>
                <c:formatCode>General</c:formatCode>
                <c:ptCount val="4"/>
                <c:pt idx="0">
                  <c:v>365.11</c:v>
                </c:pt>
                <c:pt idx="1">
                  <c:v>364.43</c:v>
                </c:pt>
                <c:pt idx="2">
                  <c:v>363.46</c:v>
                </c:pt>
                <c:pt idx="3">
                  <c:v>361.01</c:v>
                </c:pt>
              </c:numCache>
            </c:numRef>
          </c:val>
          <c:extLst>
            <c:ext xmlns:c16="http://schemas.microsoft.com/office/drawing/2014/chart" uri="{C3380CC4-5D6E-409C-BE32-E72D297353CC}">
              <c16:uniqueId val="{00000000-4F32-424F-9BE4-334E77E1641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3E8EF"/>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GB" sz="1400" b="0" i="0" u="none" strike="noStrike">
                <a:solidFill>
                  <a:srgbClr val="0B1F3A"/>
                </a:solidFill>
                <a:latin typeface="+mn-lt"/>
              </a:rPr>
              <a:t>Average payout by surge band (ZAR)</a:t>
            </a:r>
          </a:p>
        </c:rich>
      </c:tx>
      <c:overlay val="0"/>
    </c:title>
    <c:autoTitleDeleted val="0"/>
    <c:plotArea>
      <c:layout/>
      <c:barChart>
        <c:barDir val="col"/>
        <c:grouping val="clustered"/>
        <c:varyColors val="0"/>
        <c:ser>
          <c:idx val="0"/>
          <c:order val="0"/>
          <c:tx>
            <c:strRef>
              <c:f>Sheet1!$B$1</c:f>
              <c:strCache>
                <c:ptCount val="1"/>
                <c:pt idx="0">
                  <c:v>Avg driver payout</c:v>
                </c:pt>
              </c:strCache>
            </c:strRef>
          </c:tx>
          <c:spPr>
            <a:solidFill>
              <a:srgbClr val="E4572E"/>
            </a:solidFill>
            <a:effectLst/>
          </c:spPr>
          <c:invertIfNegative val="0"/>
          <c:dLbls>
            <c:numFmt formatCode="&quot;R&quot;#,##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 surge</c:v>
                </c:pt>
                <c:pt idx="1">
                  <c:v>Low 1.01–1.49</c:v>
                </c:pt>
                <c:pt idx="2">
                  <c:v>Medium 1.5–1.99</c:v>
                </c:pt>
                <c:pt idx="3">
                  <c:v>High 2.0+</c:v>
                </c:pt>
              </c:strCache>
            </c:strRef>
          </c:cat>
          <c:val>
            <c:numRef>
              <c:f>Sheet1!$B$2:$B$5</c:f>
              <c:numCache>
                <c:formatCode>General</c:formatCode>
                <c:ptCount val="4"/>
                <c:pt idx="0">
                  <c:v>288.64</c:v>
                </c:pt>
                <c:pt idx="1">
                  <c:v>389.43</c:v>
                </c:pt>
                <c:pt idx="2">
                  <c:v>482.14</c:v>
                </c:pt>
                <c:pt idx="3">
                  <c:v>600.1</c:v>
                </c:pt>
              </c:numCache>
            </c:numRef>
          </c:val>
          <c:extLst>
            <c:ext xmlns:c16="http://schemas.microsoft.com/office/drawing/2014/chart" uri="{C3380CC4-5D6E-409C-BE32-E72D297353CC}">
              <c16:uniqueId val="{00000000-906B-40AC-9787-33A7C889C8AB}"/>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3E8EF"/>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ZA" sz="1400" b="0" i="0" u="none" strike="noStrike">
                <a:solidFill>
                  <a:srgbClr val="0B1F3A"/>
                </a:solidFill>
                <a:latin typeface="+mn-lt"/>
              </a:rPr>
              <a:t>Correlation with driver payout</a:t>
            </a:r>
          </a:p>
        </c:rich>
      </c:tx>
      <c:overlay val="0"/>
    </c:title>
    <c:autoTitleDeleted val="0"/>
    <c:plotArea>
      <c:layout/>
      <c:barChart>
        <c:barDir val="bar"/>
        <c:grouping val="clustered"/>
        <c:varyColors val="0"/>
        <c:ser>
          <c:idx val="0"/>
          <c:order val="0"/>
          <c:tx>
            <c:strRef>
              <c:f>Sheet1!$B$1</c:f>
              <c:strCache>
                <c:ptCount val="1"/>
                <c:pt idx="0">
                  <c:v>Correlation with payout</c:v>
                </c:pt>
              </c:strCache>
            </c:strRef>
          </c:tx>
          <c:spPr>
            <a:solidFill>
              <a:srgbClr val="2E4A7D"/>
            </a:solidFill>
            <a:effectLst/>
          </c:spPr>
          <c:invertIfNegative val="0"/>
          <c:dLbls>
            <c:numFmt formatCode="0.00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Tip</c:v>
                </c:pt>
                <c:pt idx="1">
                  <c:v>Surge multiplier</c:v>
                </c:pt>
                <c:pt idx="2">
                  <c:v>Duration</c:v>
                </c:pt>
                <c:pt idx="3">
                  <c:v>Distance</c:v>
                </c:pt>
              </c:strCache>
            </c:strRef>
          </c:cat>
          <c:val>
            <c:numRef>
              <c:f>Sheet1!$B$2:$B$5</c:f>
              <c:numCache>
                <c:formatCode>General</c:formatCode>
                <c:ptCount val="4"/>
                <c:pt idx="0">
                  <c:v>7.3999999999999996E-2</c:v>
                </c:pt>
                <c:pt idx="1">
                  <c:v>0.52700000000000002</c:v>
                </c:pt>
                <c:pt idx="2">
                  <c:v>0.73499999999999999</c:v>
                </c:pt>
                <c:pt idx="3">
                  <c:v>0.754</c:v>
                </c:pt>
              </c:numCache>
            </c:numRef>
          </c:val>
          <c:extLst>
            <c:ext xmlns:c16="http://schemas.microsoft.com/office/drawing/2014/chart" uri="{C3380CC4-5D6E-409C-BE32-E72D297353CC}">
              <c16:uniqueId val="{00000000-EDF7-42BB-B5DE-C3C84CFAB7D2}"/>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3E8EF"/>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GB" sz="1400" b="0" i="0" u="none" strike="noStrike">
                <a:solidFill>
                  <a:srgbClr val="0B1F3A"/>
                </a:solidFill>
                <a:latin typeface="+mn-lt"/>
              </a:rPr>
              <a:t>Estimated net earnings per hour by city (ZAR)</a:t>
            </a:r>
          </a:p>
        </c:rich>
      </c:tx>
      <c:overlay val="0"/>
    </c:title>
    <c:autoTitleDeleted val="0"/>
    <c:plotArea>
      <c:layout/>
      <c:barChart>
        <c:barDir val="col"/>
        <c:grouping val="clustered"/>
        <c:varyColors val="0"/>
        <c:ser>
          <c:idx val="0"/>
          <c:order val="0"/>
          <c:tx>
            <c:strRef>
              <c:f>Sheet1!$B$1</c:f>
              <c:strCache>
                <c:ptCount val="1"/>
                <c:pt idx="0">
                  <c:v>Estimated net earnings per hour</c:v>
                </c:pt>
              </c:strCache>
            </c:strRef>
          </c:tx>
          <c:spPr>
            <a:solidFill>
              <a:srgbClr val="1FA89A"/>
            </a:solidFill>
            <a:effectLst/>
          </c:spPr>
          <c:invertIfNegative val="0"/>
          <c:dLbls>
            <c:numFmt formatCode="&quot;R&quot;#,##0" sourceLinked="0"/>
            <c:spPr>
              <a:noFill/>
              <a:ln>
                <a:noFill/>
              </a:ln>
              <a:effectLst/>
            </c:spPr>
            <c:txPr>
              <a:bodyPr/>
              <a:lstStyle/>
              <a:p>
                <a:pPr>
                  <a:defRPr sz="1200" b="0" i="0" u="none" strike="noStrike">
                    <a:solidFill>
                      <a:srgbClr val="111827"/>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Cape Town</c:v>
                </c:pt>
                <c:pt idx="1">
                  <c:v>Johannesburg</c:v>
                </c:pt>
                <c:pt idx="2">
                  <c:v>Durban</c:v>
                </c:pt>
                <c:pt idx="3">
                  <c:v>Pretoria</c:v>
                </c:pt>
                <c:pt idx="4">
                  <c:v>Gqeberha</c:v>
                </c:pt>
                <c:pt idx="5">
                  <c:v>Vanderbijlpark</c:v>
                </c:pt>
                <c:pt idx="6">
                  <c:v>Potchefstroom</c:v>
                </c:pt>
              </c:strCache>
            </c:strRef>
          </c:cat>
          <c:val>
            <c:numRef>
              <c:f>Sheet1!$B$2:$B$8</c:f>
              <c:numCache>
                <c:formatCode>General</c:formatCode>
                <c:ptCount val="7"/>
                <c:pt idx="0">
                  <c:v>333.27</c:v>
                </c:pt>
                <c:pt idx="1">
                  <c:v>295.62</c:v>
                </c:pt>
                <c:pt idx="2">
                  <c:v>278.29000000000002</c:v>
                </c:pt>
                <c:pt idx="3">
                  <c:v>255.46</c:v>
                </c:pt>
                <c:pt idx="4">
                  <c:v>233.51</c:v>
                </c:pt>
                <c:pt idx="5">
                  <c:v>227.83</c:v>
                </c:pt>
                <c:pt idx="6">
                  <c:v>218.09</c:v>
                </c:pt>
              </c:numCache>
            </c:numRef>
          </c:val>
          <c:extLst>
            <c:ext xmlns:c16="http://schemas.microsoft.com/office/drawing/2014/chart" uri="{C3380CC4-5D6E-409C-BE32-E72D297353CC}">
              <c16:uniqueId val="{00000000-7098-4129-AD3E-8DCC67878FBF}"/>
            </c:ext>
          </c:extLst>
        </c:ser>
        <c:dLbls>
          <c:dLblPos val="outEnd"/>
          <c:showLegendKey val="0"/>
          <c:showVal val="1"/>
          <c:showCatName val="0"/>
          <c:showSerName val="0"/>
          <c:showPercent val="0"/>
          <c:showBubbleSize val="0"/>
        </c:dLbls>
        <c:gapWidth val="45"/>
        <c:axId val="2094734554"/>
        <c:axId val="2094734552"/>
      </c:barChart>
      <c:lineChart>
        <c:grouping val="standard"/>
        <c:varyColors val="0"/>
        <c:ser>
          <c:idx val="1"/>
          <c:order val="1"/>
          <c:tx>
            <c:strRef>
              <c:f>Sheet1!$C$1</c:f>
              <c:strCache>
                <c:ptCount val="1"/>
                <c:pt idx="0">
                  <c:v>R30.23 minimum-wage benchmark</c:v>
                </c:pt>
              </c:strCache>
            </c:strRef>
          </c:tx>
          <c:spPr>
            <a:ln w="38100" cap="flat">
              <a:solidFill>
                <a:srgbClr val="E4572E"/>
              </a:solidFill>
              <a:prstDash val="solid"/>
              <a:round/>
            </a:ln>
            <a:effectLst/>
          </c:spPr>
          <c:marker>
            <c:symbol val="none"/>
          </c:marker>
          <c:cat>
            <c:strRef>
              <c:f>Sheet1!$A$2:$A$8</c:f>
              <c:strCache>
                <c:ptCount val="7"/>
                <c:pt idx="0">
                  <c:v>Cape Town</c:v>
                </c:pt>
                <c:pt idx="1">
                  <c:v>Johannesburg</c:v>
                </c:pt>
                <c:pt idx="2">
                  <c:v>Durban</c:v>
                </c:pt>
                <c:pt idx="3">
                  <c:v>Pretoria</c:v>
                </c:pt>
                <c:pt idx="4">
                  <c:v>Gqeberha</c:v>
                </c:pt>
                <c:pt idx="5">
                  <c:v>Vanderbijlpark</c:v>
                </c:pt>
                <c:pt idx="6">
                  <c:v>Potchefstroom</c:v>
                </c:pt>
              </c:strCache>
            </c:strRef>
          </c:cat>
          <c:val>
            <c:numRef>
              <c:f>Sheet1!$C$2:$C$8</c:f>
              <c:numCache>
                <c:formatCode>General</c:formatCode>
                <c:ptCount val="7"/>
                <c:pt idx="0">
                  <c:v>30.23</c:v>
                </c:pt>
                <c:pt idx="1">
                  <c:v>30.23</c:v>
                </c:pt>
                <c:pt idx="2">
                  <c:v>30.23</c:v>
                </c:pt>
                <c:pt idx="3">
                  <c:v>30.23</c:v>
                </c:pt>
                <c:pt idx="4">
                  <c:v>30.23</c:v>
                </c:pt>
                <c:pt idx="5">
                  <c:v>30.23</c:v>
                </c:pt>
                <c:pt idx="6">
                  <c:v>30.23</c:v>
                </c:pt>
              </c:numCache>
            </c:numRef>
          </c:val>
          <c:smooth val="0"/>
          <c:extLst>
            <c:ext xmlns:c16="http://schemas.microsoft.com/office/drawing/2014/chart" uri="{C3380CC4-5D6E-409C-BE32-E72D297353CC}">
              <c16:uniqueId val="{00000001-7098-4129-AD3E-8DCC67878FB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3E8EF"/>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4546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00" b="1">
                <a:solidFill>
                  <a:srgbClr val="0B1F3A"/>
                </a:solidFill>
              </a:rPr>
              <a:t>Net earnings per hour by city (R)</a:t>
            </a:r>
          </a:p>
        </c:rich>
      </c:tx>
      <c:overlay val="0"/>
    </c:title>
    <c:autoTitleDeleted val="0"/>
    <c:plotArea>
      <c:layout/>
      <c:barChart>
        <c:barDir val="col"/>
        <c:grouping val="clustered"/>
        <c:varyColors val="1"/>
        <c:ser>
          <c:idx val="0"/>
          <c:order val="0"/>
          <c:tx>
            <c:strRef>
              <c:f>Sheet1!$B$1</c:f>
              <c:strCache>
                <c:ptCount val="1"/>
                <c:pt idx="0">
                  <c:v>Net per hour (R)</c:v>
                </c:pt>
              </c:strCache>
            </c:strRef>
          </c:tx>
          <c:spPr>
            <a:solidFill>
              <a:srgbClr val="1FA39B"/>
            </a:solidFill>
          </c:spPr>
          <c:invertIfNegative val="1"/>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Cape Town</c:v>
                </c:pt>
                <c:pt idx="1">
                  <c:v>Johannesburg</c:v>
                </c:pt>
                <c:pt idx="2">
                  <c:v>Durban</c:v>
                </c:pt>
                <c:pt idx="3">
                  <c:v>Pretoria</c:v>
                </c:pt>
                <c:pt idx="4">
                  <c:v>Gqeberha</c:v>
                </c:pt>
                <c:pt idx="5">
                  <c:v>Vanderbijlpark</c:v>
                </c:pt>
                <c:pt idx="6">
                  <c:v>Potchefstroom</c:v>
                </c:pt>
              </c:strCache>
            </c:strRef>
          </c:cat>
          <c:val>
            <c:numRef>
              <c:f>Sheet1!$B$2:$B$8</c:f>
              <c:numCache>
                <c:formatCode>General</c:formatCode>
                <c:ptCount val="7"/>
                <c:pt idx="0">
                  <c:v>333.27</c:v>
                </c:pt>
                <c:pt idx="1">
                  <c:v>295.62</c:v>
                </c:pt>
                <c:pt idx="2">
                  <c:v>278.29000000000002</c:v>
                </c:pt>
                <c:pt idx="3">
                  <c:v>255.46</c:v>
                </c:pt>
                <c:pt idx="4">
                  <c:v>233.51</c:v>
                </c:pt>
                <c:pt idx="5">
                  <c:v>227.83</c:v>
                </c:pt>
                <c:pt idx="6">
                  <c:v>218.09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660-49E1-835C-51FA3592BFA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400"/>
          <c:min val="0"/>
        </c:scaling>
        <c:delete val="0"/>
        <c:axPos val="l"/>
        <c:majorGridlines>
          <c:spPr>
            <a:ln>
              <a:solidFill>
                <a:srgbClr val="E3E6EB"/>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00" b="1">
                <a:solidFill>
                  <a:srgbClr val="0B1F3A"/>
                </a:solidFill>
              </a:rPr>
              <a:t>Net earnings per hour by vehicle model (R)</a:t>
            </a:r>
          </a:p>
        </c:rich>
      </c:tx>
      <c:overlay val="0"/>
    </c:title>
    <c:autoTitleDeleted val="0"/>
    <c:plotArea>
      <c:layout/>
      <c:barChart>
        <c:barDir val="bar"/>
        <c:grouping val="clustered"/>
        <c:varyColors val="1"/>
        <c:ser>
          <c:idx val="0"/>
          <c:order val="0"/>
          <c:tx>
            <c:strRef>
              <c:f>Sheet1!$B$1</c:f>
              <c:strCache>
                <c:ptCount val="1"/>
                <c:pt idx="0">
                  <c:v>Net per hour (R)</c:v>
                </c:pt>
              </c:strCache>
            </c:strRef>
          </c:tx>
          <c:spPr>
            <a:solidFill>
              <a:srgbClr val="0B1F3A"/>
            </a:solidFill>
          </c:spPr>
          <c:invertIfNegative val="1"/>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Avanza</c:v>
                </c:pt>
                <c:pt idx="1">
                  <c:v>3 Series</c:v>
                </c:pt>
                <c:pt idx="2">
                  <c:v>Corolla Quest</c:v>
                </c:pt>
                <c:pt idx="3">
                  <c:v>Ertiga</c:v>
                </c:pt>
                <c:pt idx="4">
                  <c:v>Picanto</c:v>
                </c:pt>
                <c:pt idx="5">
                  <c:v>Almera</c:v>
                </c:pt>
                <c:pt idx="6">
                  <c:v>Triber</c:v>
                </c:pt>
                <c:pt idx="7">
                  <c:v>Polo Vivo</c:v>
                </c:pt>
                <c:pt idx="8">
                  <c:v>Grand i10</c:v>
                </c:pt>
              </c:strCache>
            </c:strRef>
          </c:cat>
          <c:val>
            <c:numRef>
              <c:f>Sheet1!$B$2:$B$10</c:f>
              <c:numCache>
                <c:formatCode>General</c:formatCode>
                <c:ptCount val="9"/>
                <c:pt idx="0">
                  <c:v>256.16000000000003</c:v>
                </c:pt>
                <c:pt idx="1">
                  <c:v>258.72000000000003</c:v>
                </c:pt>
                <c:pt idx="2">
                  <c:v>259.38</c:v>
                </c:pt>
                <c:pt idx="3">
                  <c:v>260.93</c:v>
                </c:pt>
                <c:pt idx="4">
                  <c:v>262.12</c:v>
                </c:pt>
                <c:pt idx="5">
                  <c:v>262.38</c:v>
                </c:pt>
                <c:pt idx="6">
                  <c:v>263.13</c:v>
                </c:pt>
                <c:pt idx="7">
                  <c:v>268.7</c:v>
                </c:pt>
                <c:pt idx="8">
                  <c:v>273.02999999999997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57E-4E01-95D0-ACAC9F75B677}"/>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300"/>
          <c:min val="0"/>
        </c:scaling>
        <c:delete val="0"/>
        <c:axPos val="b"/>
        <c:majorGridlines>
          <c:spPr>
            <a:ln>
              <a:solidFill>
                <a:srgbClr val="E3E6EB"/>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3766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question that drives the whole project: after a rider pays, how much reaches the driver, and once fuel is taken off, is it a living wage? The three circles show the answer for the average completed trip. About 10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five members. Each member can say which part they handled (database, RQs, report, video). About 5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objective in one sentence: how much of each fare reaches the driver and what is left after fuel. Give the context: drivers pay twenty to twenty-five percent commission and carry their own vehicle costs, so a payout is not profit. Recap what the brief required: a PostgreSQL database with keys and constraints, an ERD, advanced and optimised SQL, analysis with tables, charts and insights, a report, and this video. About 25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Phase 1. The six RQs are a sequence: platform, commission, category, trip conditions, city plus category, and finally net hourly earnings after fuel, RQ6, which is the signature question. About 15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data in one breath: 50,000 trips between March 2025 and March 2026 in seven cities, of which 33,331 were completed and 16,669 cancelled, with 8,417 cancelled by riders and 8,252 by drivers. Cancelled trips have zero fare and payout, so every earnings query uses completed trips only. Each driver has exactly one vehicle, and only about half of trips have a review. One rule holds on every completed trip: total fare minus commission equals driver payout. AboutAbout 15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design choices that earn marks under Database Design: keys, constraints, data types and relationships. Show 02_create_tables.sql in the demo. About 10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diagram from the hub outwards. trip_headers, in teal, is the hub. Gold PK marks primary keys, teal FK marks foreign keys with the parent table shown after the arrow, and purple UQ marks the unique licence plate. The numbers show cardinality: one rider, one driver or one zone to many trips; one trip to one fare breakdown; one trip to many reviews, although only about half of trips are reviewed; and one driver to many vehicles, although the data holds exactly one vehicle per driver. About 25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restored database in pgAdmin and run 04_validation.sql live. Make sure the row counts on screen match the CSVs: 800 / 1,200 / 800 / 50,000 / 50,000 / 25,055. About 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Rubric: SQL Query Development. This matrix comes from the techniques in our saved SQL files. Every question joins the trip tables to drivers, zones or vehicles, aggregates, and guards divisions with NULLIF. Common table expressions appear in five questions, window functions in three, HAVING in two. RQ3 adds a LEFT JOIN, a median with PERCENTILE_CONT and a READ ONLY transaction; RQ4 uses CASE banding, EXTRACT for peak hours and CORR; RQ6 uses temporary tables for fuel rates and prices. The extra file adds a monthly trend using LAG. About 15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Rubric: SQL Query Development. Name the techniques: joins (INNER and LEFT), GROUP BY and HAVING, subqueries, window functions, CTEs, transactions. Performance: EXPLAIN ANALYZE gave 117 ms for 4A and 230 ms for 4E over 33,331 rows. PostgreSQL chose sequential scans because the COMPLETED filter keeps about 67% of the table, so reading it all is cheaper than the index; joins and sorts ran in memory. Show the EXPLAIN ANALYZE output in the demo. About 15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RQ1: Bolt has the highest average fare (R467.13) and the highest payout (R377.56); Uber has the highest commission (R110.65) and lowest payout (R351.25). RQ2: retention falls almost one-for-one with commission. Demo: run RQ1.sql and RQ2.sql (INNER JOINs, CTE, RANK window function, subquery).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Standard has the highest average payout and the most completed trips (8,507), but all four categories sit within about R4 and about 79% payout-to-fare. Category is not a meaningful lever. Demo RQ3.sql: it uses PERCENTILE_CONT, window RANK and a scalar subquery in HAVING. About 15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Distance (0.754) and duration (0.735) have the strongest correlation with payout, then surge (0.527); tips are negligible (0.074). Correlation is not causation. Demo RQ4.sql: CASE bands, EXTRACT(HOUR), CORR. About 25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 point of this slide. About 20 seconds.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Combinations with fewer than 30 trips were excluded, but every cell here has between 945 and 1,341 trips. Read the heatmap down the columns: the city sets the colour, not the category. Cape Town is darkest in every column, and its lowest cell, R442.38, beats Johannesburg's highest, R419.39. The best category depends on the measure: Budget wins raw payout in Cape Town, Large Capacity wins per kilometre and per hour. AboutAbout 20 seconds.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Estimated cost = distance x litres per 100 km / 100 x monthly Petrol 95 price (inland vs coastal). Average fuel cost is only R31.27 per trip. The honest caveat: the hourly rate divides by trip duration only, so true hourly pay is lower once idle time is considered. Demo RQ6.sql: CTE, CASE-based price matching, multi-table joins. About 20 seconds.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city effect dwarfs the vehicle effect. Net earnings per hour range from R218 in Potchefstroom to R333 in Cape Town, a spread of about R115, while the nine vehicle models only range from about R256 to R273, a spread of about R17. Fuel is a small cost, so the car you drive changes little. Every city and every model is far above both minimum-wage benchmarks. AboutAbout 15 seconds.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Turn findings into actions for the three audiences from Phase 1: drivers, platform operators and policy makers.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naming the limitations honestly, then invite questions. About 25 seconds.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Data Alchemists · Group 36 · CMPG321 Phase 2</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0B1F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91672" cy="105156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Data Alchemists · Group 36 · CMPG321 Phase 2</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5" name="Cover background" descr="cover_bg.jpg"/>
          <p:cNvPicPr>
            <a:picLocks noChangeAspect="1"/>
          </p:cNvPicPr>
          <p:nvPr/>
        </p:nvPicPr>
        <p:blipFill>
          <a:blip r:embed="rId3"/>
          <a:stretch>
            <a:fillRect/>
          </a:stretch>
        </p:blipFill>
        <p:spPr>
          <a:xfrm>
            <a:off x="0" y="0"/>
            <a:ext cx="12192000" cy="6858000"/>
          </a:xfrm>
          <a:prstGeom prst="rect">
            <a:avLst/>
          </a:prstGeom>
        </p:spPr>
      </p:pic>
      <p:sp>
        <p:nvSpPr>
          <p:cNvPr id="2" name="Text 0"/>
          <p:cNvSpPr txBox="1"/>
          <p:nvPr/>
        </p:nvSpPr>
        <p:spPr>
          <a:xfrm>
            <a:off x="731520" y="914400"/>
            <a:ext cx="6583680" cy="365760"/>
          </a:xfrm>
          <a:prstGeom prst="rect">
            <a:avLst/>
          </a:prstGeom>
          <a:noFill/>
          <a:ln/>
        </p:spPr>
        <p:txBody>
          <a:bodyPr wrap="square" lIns="0" tIns="0" rIns="0" bIns="0" rtlCol="0" anchor="t"/>
          <a:lstStyle/>
          <a:p>
            <a:pPr marL="0" indent="0">
              <a:buNone/>
            </a:pPr>
            <a:r>
              <a:rPr lang="en-US" sz="1400" b="1" kern="0" spc="300" dirty="0">
                <a:solidFill>
                  <a:schemeClr val="accent1"/>
                </a:solidFill>
              </a:rPr>
              <a:t>CMPG321 · ADVANCED DATABASES · PHASE 2</a:t>
            </a:r>
            <a:endParaRPr lang="en-US" sz="1400" dirty="0"/>
          </a:p>
        </p:txBody>
      </p:sp>
      <p:sp>
        <p:nvSpPr>
          <p:cNvPr id="3" name="Title"/>
          <p:cNvSpPr txBox="1"/>
          <p:nvPr/>
        </p:nvSpPr>
        <p:spPr>
          <a:xfrm>
            <a:off x="731520" y="1463040"/>
            <a:ext cx="6675120" cy="2194560"/>
          </a:xfrm>
          <a:prstGeom prst="rect">
            <a:avLst/>
          </a:prstGeom>
          <a:noFill/>
          <a:ln/>
        </p:spPr>
        <p:txBody>
          <a:bodyPr wrap="square" lIns="0" tIns="0" rIns="0" bIns="0" rtlCol="0" anchor="t"/>
          <a:lstStyle/>
          <a:p>
            <a:pPr marL="0" indent="0">
              <a:buNone/>
            </a:pPr>
            <a:r>
              <a:rPr lang="en-US" sz="4400" b="1" dirty="0">
                <a:solidFill>
                  <a:schemeClr val="bg1"/>
                </a:solidFill>
              </a:rPr>
              <a:t>Where does the money go after a rider pays?</a:t>
            </a:r>
            <a:endParaRPr lang="en-US" sz="4400" dirty="0"/>
          </a:p>
        </p:txBody>
      </p:sp>
      <p:sp>
        <p:nvSpPr>
          <p:cNvPr id="4" name="Text 2"/>
          <p:cNvSpPr txBox="1"/>
          <p:nvPr/>
        </p:nvSpPr>
        <p:spPr>
          <a:xfrm>
            <a:off x="731520" y="3840480"/>
            <a:ext cx="6400800" cy="914400"/>
          </a:xfrm>
          <a:prstGeom prst="rect">
            <a:avLst/>
          </a:prstGeom>
          <a:noFill/>
          <a:ln/>
        </p:spPr>
        <p:txBody>
          <a:bodyPr wrap="square" lIns="0" tIns="0" rIns="0" bIns="0" rtlCol="0" anchor="t"/>
          <a:lstStyle/>
          <a:p>
            <a:pPr marL="0" indent="0">
              <a:buNone/>
            </a:pPr>
            <a:r>
              <a:rPr lang="en-US" sz="2000" dirty="0">
                <a:solidFill>
                  <a:schemeClr val="bg2"/>
                </a:solidFill>
              </a:rPr>
              <a:t>Driver earnings, platform commission and payout optimisation in South African ride-hailing</a:t>
            </a:r>
            <a:endParaRPr lang="en-US" sz="2000" dirty="0"/>
          </a:p>
        </p:txBody>
      </p:sp>
      <p:sp>
        <p:nvSpPr>
          <p:cNvPr id="5" name="Text 3"/>
          <p:cNvSpPr txBox="1"/>
          <p:nvPr/>
        </p:nvSpPr>
        <p:spPr>
          <a:xfrm>
            <a:off x="731520" y="5394960"/>
            <a:ext cx="6400800" cy="365760"/>
          </a:xfrm>
          <a:prstGeom prst="rect">
            <a:avLst/>
          </a:prstGeom>
          <a:noFill/>
          <a:ln/>
        </p:spPr>
        <p:txBody>
          <a:bodyPr wrap="square" lIns="0" tIns="0" rIns="0" bIns="0" rtlCol="0" anchor="t"/>
          <a:lstStyle/>
          <a:p>
            <a:pPr marL="0" indent="0">
              <a:buNone/>
            </a:pPr>
            <a:r>
              <a:rPr lang="en-US" sz="1800" b="1" dirty="0">
                <a:solidFill>
                  <a:schemeClr val="bg1"/>
                </a:solidFill>
              </a:rPr>
              <a:t>Data Alchemists · Group 36</a:t>
            </a:r>
            <a:endParaRPr lang="en-US" sz="1800" dirty="0"/>
          </a:p>
        </p:txBody>
      </p:sp>
      <p:sp>
        <p:nvSpPr>
          <p:cNvPr id="6" name="Text 4"/>
          <p:cNvSpPr txBox="1"/>
          <p:nvPr/>
        </p:nvSpPr>
        <p:spPr>
          <a:xfrm>
            <a:off x="7955280" y="640080"/>
            <a:ext cx="3657600" cy="320040"/>
          </a:xfrm>
          <a:prstGeom prst="rect">
            <a:avLst/>
          </a:prstGeom>
          <a:noFill/>
          <a:ln/>
        </p:spPr>
        <p:txBody>
          <a:bodyPr wrap="square" lIns="0" tIns="0" rIns="0" bIns="0" rtlCol="0" anchor="t"/>
          <a:lstStyle/>
          <a:p>
            <a:pPr marL="0" indent="0">
              <a:buNone/>
            </a:pPr>
            <a:r>
              <a:rPr lang="en-US" sz="1200" dirty="0">
                <a:solidFill>
                  <a:schemeClr val="accent6"/>
                </a:solidFill>
              </a:rPr>
              <a:t>Average per completed trip (33,331 trips)</a:t>
            </a:r>
            <a:endParaRPr lang="en-US" sz="1200" dirty="0"/>
          </a:p>
        </p:txBody>
      </p:sp>
      <p:sp>
        <p:nvSpPr>
          <p:cNvPr id="7" name="Payout circle"/>
          <p:cNvSpPr txBox="1"/>
          <p:nvPr/>
        </p:nvSpPr>
        <p:spPr>
          <a:xfrm>
            <a:off x="7955280" y="1051560"/>
            <a:ext cx="1463040" cy="14630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2000" b="1" dirty="0">
                <a:solidFill>
                  <a:schemeClr val="bg1"/>
                </a:solidFill>
              </a:rPr>
              <a:t>R363.53</a:t>
            </a:r>
            <a:endParaRPr lang="en-US" sz="2000" dirty="0"/>
          </a:p>
        </p:txBody>
      </p:sp>
      <p:sp>
        <p:nvSpPr>
          <p:cNvPr id="8" name="Text 6"/>
          <p:cNvSpPr txBox="1"/>
          <p:nvPr/>
        </p:nvSpPr>
        <p:spPr>
          <a:xfrm>
            <a:off x="9646920" y="1600200"/>
            <a:ext cx="2011680" cy="365760"/>
          </a:xfrm>
          <a:prstGeom prst="rect">
            <a:avLst/>
          </a:prstGeom>
          <a:noFill/>
          <a:ln/>
        </p:spPr>
        <p:txBody>
          <a:bodyPr wrap="square" lIns="0" tIns="0" rIns="0" bIns="0" rtlCol="0" anchor="t"/>
          <a:lstStyle/>
          <a:p>
            <a:pPr marL="0" indent="0">
              <a:buNone/>
            </a:pPr>
            <a:r>
              <a:rPr lang="en-US" sz="1600" b="1" dirty="0">
                <a:solidFill>
                  <a:schemeClr val="bg1"/>
                </a:solidFill>
              </a:rPr>
              <a:t>Driver payout</a:t>
            </a:r>
            <a:endParaRPr lang="en-US" sz="1600" dirty="0"/>
          </a:p>
        </p:txBody>
      </p:sp>
      <p:sp>
        <p:nvSpPr>
          <p:cNvPr id="9" name="Shape 7"/>
          <p:cNvSpPr/>
          <p:nvPr/>
        </p:nvSpPr>
        <p:spPr>
          <a:xfrm>
            <a:off x="8686800" y="2560320"/>
            <a:ext cx="0" cy="365760"/>
          </a:xfrm>
          <a:prstGeom prst="line">
            <a:avLst/>
          </a:prstGeom>
          <a:noFill/>
          <a:ln w="25400">
            <a:solidFill>
              <a:srgbClr val="9AD1C9"/>
            </a:solidFill>
            <a:prstDash val="solid"/>
            <a:tailEnd type="triangle"/>
          </a:ln>
        </p:spPr>
        <p:txBody>
          <a:bodyPr/>
          <a:lstStyle/>
          <a:p>
            <a:endParaRPr lang="en-ZA"/>
          </a:p>
        </p:txBody>
      </p:sp>
      <p:sp>
        <p:nvSpPr>
          <p:cNvPr id="10" name="Fuel circle"/>
          <p:cNvSpPr txBox="1"/>
          <p:nvPr/>
        </p:nvSpPr>
        <p:spPr>
          <a:xfrm>
            <a:off x="7955280" y="2971800"/>
            <a:ext cx="1463040" cy="1463040"/>
          </a:xfrm>
          <a:prstGeom prst="ellipse">
            <a:avLst/>
          </a:prstGeom>
          <a:solidFill>
            <a:schemeClr val="accent3"/>
          </a:solidFill>
          <a:ln w="6350">
            <a:solidFill>
              <a:schemeClr val="accent3"/>
            </a:solidFill>
          </a:ln>
        </p:spPr>
        <p:txBody>
          <a:bodyPr wrap="square" lIns="0" tIns="0" rIns="0" bIns="0" rtlCol="0" anchor="ctr"/>
          <a:lstStyle/>
          <a:p>
            <a:pPr marL="0" indent="0" algn="ctr">
              <a:buNone/>
            </a:pPr>
            <a:r>
              <a:rPr lang="en-US" sz="2000" b="1" dirty="0">
                <a:solidFill>
                  <a:schemeClr val="bg1"/>
                </a:solidFill>
              </a:rPr>
              <a:t>–R31.27</a:t>
            </a:r>
            <a:endParaRPr lang="en-US" sz="2000" dirty="0"/>
          </a:p>
        </p:txBody>
      </p:sp>
      <p:sp>
        <p:nvSpPr>
          <p:cNvPr id="11" name="Text 9"/>
          <p:cNvSpPr txBox="1"/>
          <p:nvPr/>
        </p:nvSpPr>
        <p:spPr>
          <a:xfrm>
            <a:off x="9646920" y="3520440"/>
            <a:ext cx="2011680" cy="365760"/>
          </a:xfrm>
          <a:prstGeom prst="rect">
            <a:avLst/>
          </a:prstGeom>
          <a:noFill/>
          <a:ln/>
        </p:spPr>
        <p:txBody>
          <a:bodyPr wrap="square" lIns="0" tIns="0" rIns="0" bIns="0" rtlCol="0" anchor="t"/>
          <a:lstStyle/>
          <a:p>
            <a:pPr marL="0" indent="0">
              <a:buNone/>
            </a:pPr>
            <a:r>
              <a:rPr lang="en-US" sz="1600" b="1" dirty="0">
                <a:solidFill>
                  <a:schemeClr val="bg1"/>
                </a:solidFill>
              </a:rPr>
              <a:t>Estimated fuel cost</a:t>
            </a:r>
            <a:endParaRPr lang="en-US" sz="1600" dirty="0"/>
          </a:p>
        </p:txBody>
      </p:sp>
      <p:sp>
        <p:nvSpPr>
          <p:cNvPr id="12" name="Shape 10"/>
          <p:cNvSpPr/>
          <p:nvPr/>
        </p:nvSpPr>
        <p:spPr>
          <a:xfrm>
            <a:off x="8686800" y="4480560"/>
            <a:ext cx="0" cy="365760"/>
          </a:xfrm>
          <a:prstGeom prst="line">
            <a:avLst/>
          </a:prstGeom>
          <a:noFill/>
          <a:ln w="25400">
            <a:solidFill>
              <a:srgbClr val="9AD1C9"/>
            </a:solidFill>
            <a:prstDash val="solid"/>
            <a:tailEnd type="triangle"/>
          </a:ln>
        </p:spPr>
        <p:txBody>
          <a:bodyPr/>
          <a:lstStyle/>
          <a:p>
            <a:endParaRPr lang="en-ZA"/>
          </a:p>
        </p:txBody>
      </p:sp>
      <p:sp>
        <p:nvSpPr>
          <p:cNvPr id="13" name="Net circle"/>
          <p:cNvSpPr txBox="1"/>
          <p:nvPr/>
        </p:nvSpPr>
        <p:spPr>
          <a:xfrm>
            <a:off x="7955280" y="4892040"/>
            <a:ext cx="1463040" cy="1463040"/>
          </a:xfrm>
          <a:prstGeom prst="ellipse">
            <a:avLst/>
          </a:prstGeom>
          <a:solidFill>
            <a:schemeClr val="accent1"/>
          </a:solidFill>
          <a:ln w="6350">
            <a:solidFill>
              <a:schemeClr val="accent1"/>
            </a:solidFill>
          </a:ln>
        </p:spPr>
        <p:txBody>
          <a:bodyPr wrap="square" lIns="0" tIns="0" rIns="0" bIns="0" rtlCol="0" anchor="ctr"/>
          <a:lstStyle/>
          <a:p>
            <a:pPr marL="0" indent="0" algn="ctr">
              <a:buNone/>
            </a:pPr>
            <a:r>
              <a:rPr lang="en-US" sz="2000" b="1" dirty="0">
                <a:solidFill>
                  <a:schemeClr val="tx2"/>
                </a:solidFill>
              </a:rPr>
              <a:t>R332.26</a:t>
            </a:r>
            <a:endParaRPr lang="en-US" sz="2000" dirty="0"/>
          </a:p>
        </p:txBody>
      </p:sp>
      <p:sp>
        <p:nvSpPr>
          <p:cNvPr id="14" name="Text 12"/>
          <p:cNvSpPr txBox="1"/>
          <p:nvPr/>
        </p:nvSpPr>
        <p:spPr>
          <a:xfrm>
            <a:off x="9646920" y="5440680"/>
            <a:ext cx="2011680" cy="365760"/>
          </a:xfrm>
          <a:prstGeom prst="rect">
            <a:avLst/>
          </a:prstGeom>
          <a:noFill/>
          <a:ln/>
        </p:spPr>
        <p:txBody>
          <a:bodyPr wrap="square" lIns="0" tIns="0" rIns="0" bIns="0" rtlCol="0" anchor="t"/>
          <a:lstStyle/>
          <a:p>
            <a:pPr marL="0" indent="0">
              <a:buNone/>
            </a:pPr>
            <a:r>
              <a:rPr lang="en-US" sz="1600" b="1" dirty="0">
                <a:solidFill>
                  <a:schemeClr val="bg1"/>
                </a:solidFill>
              </a:rPr>
              <a:t>Estimated net earnings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Group 36 – Data Alchemists</a:t>
            </a:r>
            <a:endParaRPr lang="en-US" sz="3200" dirty="0"/>
          </a:p>
        </p:txBody>
      </p:sp>
      <p:sp>
        <p:nvSpPr>
          <p:cNvPr id="3" name="Team card 1"/>
          <p:cNvSpPr/>
          <p:nvPr/>
        </p:nvSpPr>
        <p:spPr>
          <a:xfrm>
            <a:off x="548640"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5" name="Text 3"/>
          <p:cNvSpPr txBox="1"/>
          <p:nvPr/>
        </p:nvSpPr>
        <p:spPr>
          <a:xfrm>
            <a:off x="685800"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Thabo Prince Motau</a:t>
            </a:r>
            <a:endParaRPr lang="en-US" sz="1600" dirty="0"/>
          </a:p>
        </p:txBody>
      </p:sp>
      <p:sp>
        <p:nvSpPr>
          <p:cNvPr id="6" name="Text 4"/>
          <p:cNvSpPr txBox="1"/>
          <p:nvPr/>
        </p:nvSpPr>
        <p:spPr>
          <a:xfrm>
            <a:off x="685800"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Group Leader </a:t>
            </a:r>
            <a:endParaRPr lang="en-US" sz="1300" dirty="0"/>
          </a:p>
        </p:txBody>
      </p:sp>
      <p:sp>
        <p:nvSpPr>
          <p:cNvPr id="7" name="Team card 2"/>
          <p:cNvSpPr/>
          <p:nvPr/>
        </p:nvSpPr>
        <p:spPr>
          <a:xfrm>
            <a:off x="2820924"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9" name="Text 7"/>
          <p:cNvSpPr txBox="1"/>
          <p:nvPr/>
        </p:nvSpPr>
        <p:spPr>
          <a:xfrm>
            <a:off x="2958084"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Botshelo Mathe</a:t>
            </a:r>
            <a:endParaRPr lang="en-US" sz="1600" dirty="0"/>
          </a:p>
        </p:txBody>
      </p:sp>
      <p:sp>
        <p:nvSpPr>
          <p:cNvPr id="10" name="Text 8"/>
          <p:cNvSpPr txBox="1"/>
          <p:nvPr/>
        </p:nvSpPr>
        <p:spPr>
          <a:xfrm>
            <a:off x="2958084"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Member</a:t>
            </a:r>
            <a:endParaRPr lang="en-US" sz="1300" dirty="0"/>
          </a:p>
        </p:txBody>
      </p:sp>
      <p:sp>
        <p:nvSpPr>
          <p:cNvPr id="11" name="Team card 3"/>
          <p:cNvSpPr/>
          <p:nvPr/>
        </p:nvSpPr>
        <p:spPr>
          <a:xfrm>
            <a:off x="5093208"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13" name="Text 11"/>
          <p:cNvSpPr txBox="1"/>
          <p:nvPr/>
        </p:nvSpPr>
        <p:spPr>
          <a:xfrm>
            <a:off x="5230368"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Fani Mabaso</a:t>
            </a:r>
            <a:endParaRPr lang="en-US" sz="1600" dirty="0"/>
          </a:p>
        </p:txBody>
      </p:sp>
      <p:sp>
        <p:nvSpPr>
          <p:cNvPr id="14" name="Text 12"/>
          <p:cNvSpPr txBox="1"/>
          <p:nvPr/>
        </p:nvSpPr>
        <p:spPr>
          <a:xfrm>
            <a:off x="5230368"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Member</a:t>
            </a:r>
            <a:endParaRPr lang="en-US" sz="1300" dirty="0"/>
          </a:p>
        </p:txBody>
      </p:sp>
      <p:sp>
        <p:nvSpPr>
          <p:cNvPr id="15" name="Team card 4"/>
          <p:cNvSpPr/>
          <p:nvPr/>
        </p:nvSpPr>
        <p:spPr>
          <a:xfrm>
            <a:off x="7365492"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17" name="Text 15"/>
          <p:cNvSpPr txBox="1"/>
          <p:nvPr/>
        </p:nvSpPr>
        <p:spPr>
          <a:xfrm>
            <a:off x="7502652"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Mfezeko Gubelana</a:t>
            </a:r>
            <a:endParaRPr lang="en-US" sz="1600" dirty="0"/>
          </a:p>
        </p:txBody>
      </p:sp>
      <p:sp>
        <p:nvSpPr>
          <p:cNvPr id="18" name="Text 16"/>
          <p:cNvSpPr txBox="1"/>
          <p:nvPr/>
        </p:nvSpPr>
        <p:spPr>
          <a:xfrm>
            <a:off x="7502652"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Member</a:t>
            </a:r>
            <a:endParaRPr lang="en-US" sz="1300" dirty="0"/>
          </a:p>
        </p:txBody>
      </p:sp>
      <p:sp>
        <p:nvSpPr>
          <p:cNvPr id="19" name="Team card 5"/>
          <p:cNvSpPr/>
          <p:nvPr/>
        </p:nvSpPr>
        <p:spPr>
          <a:xfrm>
            <a:off x="9637776"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21" name="Text 19"/>
          <p:cNvSpPr txBox="1"/>
          <p:nvPr/>
        </p:nvSpPr>
        <p:spPr>
          <a:xfrm>
            <a:off x="9774936"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Mabote Kgaugelo Pertunia</a:t>
            </a:r>
            <a:endParaRPr lang="en-US" sz="1600" dirty="0"/>
          </a:p>
        </p:txBody>
      </p:sp>
      <p:sp>
        <p:nvSpPr>
          <p:cNvPr id="22" name="Text 20"/>
          <p:cNvSpPr txBox="1"/>
          <p:nvPr/>
        </p:nvSpPr>
        <p:spPr>
          <a:xfrm>
            <a:off x="9774936"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Member</a:t>
            </a:r>
            <a:endParaRPr lang="en-US" sz="1300" dirty="0"/>
          </a:p>
        </p:txBody>
      </p:sp>
      <p:sp>
        <p:nvSpPr>
          <p:cNvPr id="23" name="Text 21"/>
          <p:cNvSpPr txBox="1"/>
          <p:nvPr/>
        </p:nvSpPr>
        <p:spPr>
          <a:xfrm>
            <a:off x="548640" y="5943600"/>
            <a:ext cx="11091672" cy="365760"/>
          </a:xfrm>
          <a:prstGeom prst="rect">
            <a:avLst/>
          </a:prstGeom>
          <a:noFill/>
          <a:ln/>
        </p:spPr>
        <p:txBody>
          <a:bodyPr wrap="square" lIns="0" tIns="0" rIns="0" bIns="0" rtlCol="0" anchor="t"/>
          <a:lstStyle/>
          <a:p>
            <a:pPr marL="0" indent="0">
              <a:buNone/>
            </a:pPr>
            <a:r>
              <a:rPr lang="en-US" sz="1400" dirty="0">
                <a:solidFill>
                  <a:schemeClr val="accent4"/>
                </a:solidFill>
              </a:rPr>
              <a:t>North-West University · CMPG321 Advanced Databases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pic>
        <p:nvPicPr>
          <p:cNvPr id="26" name="Picture 25" descr="p1.jpg"/>
          <p:cNvPicPr>
            <a:picLocks noChangeAspect="1"/>
          </p:cNvPicPr>
          <p:nvPr/>
        </p:nvPicPr>
        <p:blipFill>
          <a:blip r:embed="rId3"/>
          <a:stretch>
            <a:fillRect/>
          </a:stretch>
        </p:blipFill>
        <p:spPr>
          <a:xfrm>
            <a:off x="726948" y="1463040"/>
            <a:ext cx="1645920" cy="1645920"/>
          </a:xfrm>
          <a:prstGeom prst="ellipse">
            <a:avLst/>
          </a:prstGeom>
          <a:ln w="31750">
            <a:solidFill>
              <a:srgbClr val="F2B705"/>
            </a:solidFill>
          </a:ln>
        </p:spPr>
      </p:pic>
      <p:sp>
        <p:nvSpPr>
          <p:cNvPr id="27" name="TextBox 26"/>
          <p:cNvSpPr txBox="1"/>
          <p:nvPr/>
        </p:nvSpPr>
        <p:spPr>
          <a:xfrm>
            <a:off x="685800"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40853942</a:t>
            </a:r>
          </a:p>
          <a:p>
            <a:pPr algn="ctr">
              <a:spcAft>
                <a:spcPts val="300"/>
              </a:spcAft>
            </a:pPr>
            <a:r>
              <a:rPr sz="1050">
                <a:solidFill>
                  <a:srgbClr val="3B4455"/>
                </a:solidFill>
              </a:rPr>
              <a:t>40853942@mynwu.ac.za</a:t>
            </a:r>
          </a:p>
          <a:p>
            <a:pPr algn="ctr">
              <a:spcAft>
                <a:spcPts val="300"/>
              </a:spcAft>
            </a:pPr>
            <a:r>
              <a:rPr sz="1050">
                <a:solidFill>
                  <a:srgbClr val="3B4455"/>
                </a:solidFill>
              </a:rPr>
              <a:t>+27 63 002 8070</a:t>
            </a:r>
          </a:p>
        </p:txBody>
      </p:sp>
      <p:pic>
        <p:nvPicPr>
          <p:cNvPr id="28" name="Picture 27" descr="p2.jpg"/>
          <p:cNvPicPr>
            <a:picLocks noChangeAspect="1"/>
          </p:cNvPicPr>
          <p:nvPr/>
        </p:nvPicPr>
        <p:blipFill>
          <a:blip r:embed="rId4"/>
          <a:stretch>
            <a:fillRect/>
          </a:stretch>
        </p:blipFill>
        <p:spPr>
          <a:xfrm>
            <a:off x="2999232" y="1463040"/>
            <a:ext cx="1645920" cy="1645920"/>
          </a:xfrm>
          <a:prstGeom prst="ellipse">
            <a:avLst/>
          </a:prstGeom>
          <a:ln w="31750">
            <a:solidFill>
              <a:srgbClr val="C9D1DC"/>
            </a:solidFill>
          </a:ln>
        </p:spPr>
      </p:pic>
      <p:sp>
        <p:nvSpPr>
          <p:cNvPr id="29" name="TextBox 28"/>
          <p:cNvSpPr txBox="1"/>
          <p:nvPr/>
        </p:nvSpPr>
        <p:spPr>
          <a:xfrm>
            <a:off x="2958084"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50102583</a:t>
            </a:r>
          </a:p>
          <a:p>
            <a:pPr algn="ctr">
              <a:spcAft>
                <a:spcPts val="300"/>
              </a:spcAft>
            </a:pPr>
            <a:r>
              <a:rPr sz="1050">
                <a:solidFill>
                  <a:srgbClr val="3B4455"/>
                </a:solidFill>
              </a:rPr>
              <a:t>50102583@mynwu.ac.za</a:t>
            </a:r>
          </a:p>
          <a:p>
            <a:pPr algn="ctr">
              <a:spcAft>
                <a:spcPts val="300"/>
              </a:spcAft>
            </a:pPr>
            <a:r>
              <a:rPr sz="1050">
                <a:solidFill>
                  <a:srgbClr val="3B4455"/>
                </a:solidFill>
              </a:rPr>
              <a:t>+27 79 352 0444</a:t>
            </a:r>
          </a:p>
        </p:txBody>
      </p:sp>
      <p:pic>
        <p:nvPicPr>
          <p:cNvPr id="30" name="Picture 29" descr="p3.jpg"/>
          <p:cNvPicPr>
            <a:picLocks noChangeAspect="1"/>
          </p:cNvPicPr>
          <p:nvPr/>
        </p:nvPicPr>
        <p:blipFill>
          <a:blip r:embed="rId5"/>
          <a:stretch>
            <a:fillRect/>
          </a:stretch>
        </p:blipFill>
        <p:spPr>
          <a:xfrm>
            <a:off x="5271516" y="1463040"/>
            <a:ext cx="1645920" cy="1645920"/>
          </a:xfrm>
          <a:prstGeom prst="ellipse">
            <a:avLst/>
          </a:prstGeom>
          <a:ln w="31750">
            <a:solidFill>
              <a:srgbClr val="C9D1DC"/>
            </a:solidFill>
          </a:ln>
        </p:spPr>
      </p:pic>
      <p:sp>
        <p:nvSpPr>
          <p:cNvPr id="31" name="TextBox 30"/>
          <p:cNvSpPr txBox="1"/>
          <p:nvPr/>
        </p:nvSpPr>
        <p:spPr>
          <a:xfrm>
            <a:off x="5230368"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44330243</a:t>
            </a:r>
          </a:p>
          <a:p>
            <a:pPr algn="ctr">
              <a:spcAft>
                <a:spcPts val="300"/>
              </a:spcAft>
            </a:pPr>
            <a:r>
              <a:rPr sz="1050">
                <a:solidFill>
                  <a:srgbClr val="3B4455"/>
                </a:solidFill>
              </a:rPr>
              <a:t>44330243@mynwu.ac.za</a:t>
            </a:r>
          </a:p>
          <a:p>
            <a:pPr algn="ctr">
              <a:spcAft>
                <a:spcPts val="300"/>
              </a:spcAft>
            </a:pPr>
            <a:r>
              <a:rPr sz="1050">
                <a:solidFill>
                  <a:srgbClr val="3B4455"/>
                </a:solidFill>
              </a:rPr>
              <a:t>+27 71 798 6296</a:t>
            </a:r>
          </a:p>
        </p:txBody>
      </p:sp>
      <p:pic>
        <p:nvPicPr>
          <p:cNvPr id="32" name="Picture 31" descr="p4.jpg"/>
          <p:cNvPicPr>
            <a:picLocks noChangeAspect="1"/>
          </p:cNvPicPr>
          <p:nvPr/>
        </p:nvPicPr>
        <p:blipFill>
          <a:blip r:embed="rId6"/>
          <a:stretch>
            <a:fillRect/>
          </a:stretch>
        </p:blipFill>
        <p:spPr>
          <a:xfrm>
            <a:off x="7543800" y="1463040"/>
            <a:ext cx="1645920" cy="1645920"/>
          </a:xfrm>
          <a:prstGeom prst="ellipse">
            <a:avLst/>
          </a:prstGeom>
          <a:ln w="31750">
            <a:solidFill>
              <a:srgbClr val="C9D1DC"/>
            </a:solidFill>
          </a:ln>
        </p:spPr>
      </p:pic>
      <p:sp>
        <p:nvSpPr>
          <p:cNvPr id="33" name="TextBox 32"/>
          <p:cNvSpPr txBox="1"/>
          <p:nvPr/>
        </p:nvSpPr>
        <p:spPr>
          <a:xfrm>
            <a:off x="7502652"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50789244</a:t>
            </a:r>
          </a:p>
          <a:p>
            <a:pPr algn="ctr">
              <a:spcAft>
                <a:spcPts val="300"/>
              </a:spcAft>
            </a:pPr>
            <a:r>
              <a:rPr sz="1050">
                <a:solidFill>
                  <a:srgbClr val="3B4455"/>
                </a:solidFill>
              </a:rPr>
              <a:t>50789244@mynwu.ac.za</a:t>
            </a:r>
          </a:p>
          <a:p>
            <a:pPr algn="ctr">
              <a:spcAft>
                <a:spcPts val="300"/>
              </a:spcAft>
            </a:pPr>
            <a:r>
              <a:rPr sz="1050">
                <a:solidFill>
                  <a:srgbClr val="3B4455"/>
                </a:solidFill>
              </a:rPr>
              <a:t>+27 84 767 1225</a:t>
            </a:r>
          </a:p>
        </p:txBody>
      </p:sp>
      <p:pic>
        <p:nvPicPr>
          <p:cNvPr id="34" name="Picture 33" descr="p5.jpg"/>
          <p:cNvPicPr>
            <a:picLocks noChangeAspect="1"/>
          </p:cNvPicPr>
          <p:nvPr/>
        </p:nvPicPr>
        <p:blipFill>
          <a:blip r:embed="rId7"/>
          <a:stretch>
            <a:fillRect/>
          </a:stretch>
        </p:blipFill>
        <p:spPr>
          <a:xfrm>
            <a:off x="9816084" y="1463040"/>
            <a:ext cx="1645920" cy="1645920"/>
          </a:xfrm>
          <a:prstGeom prst="ellipse">
            <a:avLst/>
          </a:prstGeom>
          <a:ln w="31750">
            <a:solidFill>
              <a:srgbClr val="C9D1DC"/>
            </a:solidFill>
          </a:ln>
        </p:spPr>
      </p:pic>
      <p:sp>
        <p:nvSpPr>
          <p:cNvPr id="35" name="TextBox 34"/>
          <p:cNvSpPr txBox="1"/>
          <p:nvPr/>
        </p:nvSpPr>
        <p:spPr>
          <a:xfrm>
            <a:off x="9774936"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41409914</a:t>
            </a:r>
          </a:p>
          <a:p>
            <a:pPr algn="ctr">
              <a:spcAft>
                <a:spcPts val="300"/>
              </a:spcAft>
            </a:pPr>
            <a:r>
              <a:rPr sz="1050">
                <a:solidFill>
                  <a:srgbClr val="3B4455"/>
                </a:solidFill>
              </a:rPr>
              <a:t>41409914@mynwu.ac.za</a:t>
            </a:r>
          </a:p>
          <a:p>
            <a:pPr algn="ctr">
              <a:spcAft>
                <a:spcPts val="300"/>
              </a:spcAft>
            </a:pPr>
            <a:r>
              <a:rPr sz="1050">
                <a:solidFill>
                  <a:srgbClr val="3B4455"/>
                </a:solidFill>
              </a:rPr>
              <a:t>+27 72 748 4332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Objective, problem context and requirements</a:t>
            </a:r>
            <a:endParaRPr lang="en-US" sz="3200" dirty="0"/>
          </a:p>
        </p:txBody>
      </p:sp>
      <p:sp>
        <p:nvSpPr>
          <p:cNvPr id="3" name="Insight card 1"/>
          <p:cNvSpPr/>
          <p:nvPr/>
        </p:nvSpPr>
        <p:spPr>
          <a:xfrm>
            <a:off x="548640"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4" name="Insight badge 1"/>
          <p:cNvSpPr txBox="1"/>
          <p:nvPr/>
        </p:nvSpPr>
        <p:spPr>
          <a:xfrm>
            <a:off x="777240" y="187452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508760"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Objective</a:t>
            </a:r>
            <a:endParaRPr lang="en-US" sz="2000" dirty="0"/>
          </a:p>
        </p:txBody>
      </p:sp>
      <p:sp>
        <p:nvSpPr>
          <p:cNvPr id="6" name="Text 4"/>
          <p:cNvSpPr txBox="1"/>
          <p:nvPr/>
        </p:nvSpPr>
        <p:spPr>
          <a:xfrm>
            <a:off x="777240"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chemeClr val="tx1"/>
                </a:solidFill>
              </a:rPr>
              <a:t>Measure how much of each fare reaches the driver, and what is left after fuel</a:t>
            </a:r>
            <a:endParaRPr lang="en-US" sz="1600" dirty="0"/>
          </a:p>
          <a:p>
            <a:pPr marL="342900" indent="-342900">
              <a:spcAft>
                <a:spcPts val="1400"/>
              </a:spcAft>
              <a:buSzPct val="100000"/>
              <a:buChar char="•"/>
            </a:pPr>
            <a:r>
              <a:rPr lang="en-US" sz="1500" dirty="0">
                <a:solidFill>
                  <a:schemeClr val="tx1"/>
                </a:solidFill>
              </a:rPr>
              <a:t>Compare platforms, ride categories, trip conditions and cities</a:t>
            </a:r>
            <a:endParaRPr lang="en-US" sz="1600" dirty="0"/>
          </a:p>
          <a:p>
            <a:pPr marL="342900" indent="-342900">
              <a:spcAft>
                <a:spcPts val="1400"/>
              </a:spcAft>
              <a:buSzPct val="100000"/>
              <a:buChar char="•"/>
            </a:pPr>
            <a:r>
              <a:rPr lang="en-US" sz="1500" dirty="0">
                <a:solidFill>
                  <a:schemeClr val="tx1"/>
                </a:solidFill>
              </a:rPr>
              <a:t>Test the result against South Africa's minimum-wage benchmarks</a:t>
            </a:r>
            <a:endParaRPr lang="en-US" sz="1600" dirty="0"/>
          </a:p>
        </p:txBody>
      </p:sp>
      <p:sp>
        <p:nvSpPr>
          <p:cNvPr id="7" name="Insight card 2"/>
          <p:cNvSpPr/>
          <p:nvPr/>
        </p:nvSpPr>
        <p:spPr>
          <a:xfrm>
            <a:off x="4311396"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8" name="Insight badge 2"/>
          <p:cNvSpPr txBox="1"/>
          <p:nvPr/>
        </p:nvSpPr>
        <p:spPr>
          <a:xfrm>
            <a:off x="4539996" y="1874520"/>
            <a:ext cx="548640" cy="548640"/>
          </a:xfrm>
          <a:prstGeom prst="ellipse">
            <a:avLst/>
          </a:prstGeom>
          <a:solidFill>
            <a:schemeClr val="accent5"/>
          </a:solidFill>
          <a:ln w="6350">
            <a:solidFill>
              <a:schemeClr val="accent5"/>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7"/>
          <p:cNvSpPr txBox="1"/>
          <p:nvPr/>
        </p:nvSpPr>
        <p:spPr>
          <a:xfrm>
            <a:off x="5271516"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Problem context</a:t>
            </a:r>
            <a:endParaRPr lang="en-US" sz="2000" dirty="0"/>
          </a:p>
        </p:txBody>
      </p:sp>
      <p:sp>
        <p:nvSpPr>
          <p:cNvPr id="10" name="Text 8"/>
          <p:cNvSpPr txBox="1"/>
          <p:nvPr/>
        </p:nvSpPr>
        <p:spPr>
          <a:xfrm>
            <a:off x="4539996"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chemeClr val="tx1"/>
                </a:solidFill>
              </a:rPr>
              <a:t>Drivers pay 20-25% commission and cover their own fuel and vehicle costs</a:t>
            </a:r>
            <a:endParaRPr lang="en-US" sz="1600" dirty="0"/>
          </a:p>
          <a:p>
            <a:pPr marL="342900" indent="-342900">
              <a:spcAft>
                <a:spcPts val="1400"/>
              </a:spcAft>
              <a:buSzPct val="100000"/>
              <a:buChar char="•"/>
            </a:pPr>
            <a:r>
              <a:rPr lang="en-US" sz="1500" dirty="0">
                <a:solidFill>
                  <a:schemeClr val="tx1"/>
                </a:solidFill>
              </a:rPr>
              <a:t>A reported payout is not profit</a:t>
            </a:r>
            <a:endParaRPr lang="en-US" sz="1600" dirty="0"/>
          </a:p>
          <a:p>
            <a:pPr marL="342900" indent="-342900">
              <a:spcAft>
                <a:spcPts val="1400"/>
              </a:spcAft>
              <a:buSzPct val="100000"/>
              <a:buChar char="•"/>
            </a:pPr>
            <a:r>
              <a:rPr lang="en-US" sz="1500" dirty="0">
                <a:solidFill>
                  <a:schemeClr val="tx1"/>
                </a:solidFill>
              </a:rPr>
              <a:t>Data: 50,000 Uber and Bolt trips, seven cities, March 2025 to March 2026</a:t>
            </a:r>
            <a:endParaRPr lang="en-US" sz="1600" dirty="0"/>
          </a:p>
        </p:txBody>
      </p:sp>
      <p:sp>
        <p:nvSpPr>
          <p:cNvPr id="11" name="Insight card 3"/>
          <p:cNvSpPr/>
          <p:nvPr/>
        </p:nvSpPr>
        <p:spPr>
          <a:xfrm>
            <a:off x="8074152"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12" name="Insight badge 3"/>
          <p:cNvSpPr txBox="1"/>
          <p:nvPr/>
        </p:nvSpPr>
        <p:spPr>
          <a:xfrm>
            <a:off x="8302752" y="1874520"/>
            <a:ext cx="548640" cy="548640"/>
          </a:xfrm>
          <a:prstGeom prst="ellipse">
            <a:avLst/>
          </a:prstGeom>
          <a:solidFill>
            <a:schemeClr val="accent3"/>
          </a:solidFill>
          <a:ln w="6350">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9034272"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Requirements recap</a:t>
            </a:r>
            <a:endParaRPr lang="en-US" sz="2000" dirty="0"/>
          </a:p>
        </p:txBody>
      </p:sp>
      <p:sp>
        <p:nvSpPr>
          <p:cNvPr id="14" name="Text 12"/>
          <p:cNvSpPr txBox="1"/>
          <p:nvPr/>
        </p:nvSpPr>
        <p:spPr>
          <a:xfrm>
            <a:off x="8302752"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chemeClr val="tx1"/>
                </a:solidFill>
              </a:rPr>
              <a:t>Load the data into PostgreSQL with keys and constraints</a:t>
            </a:r>
            <a:endParaRPr lang="en-US" sz="1600" dirty="0"/>
          </a:p>
          <a:p>
            <a:pPr marL="342900" indent="-342900">
              <a:spcAft>
                <a:spcPts val="1400"/>
              </a:spcAft>
              <a:buSzPct val="100000"/>
              <a:buChar char="•"/>
            </a:pPr>
            <a:r>
              <a:rPr lang="en-US" sz="1500" dirty="0">
                <a:solidFill>
                  <a:schemeClr val="tx1"/>
                </a:solidFill>
              </a:rPr>
              <a:t>Design an ERD; write advanced, optimised SQL</a:t>
            </a:r>
            <a:endParaRPr lang="en-US" sz="1600" dirty="0"/>
          </a:p>
          <a:p>
            <a:pPr marL="342900" indent="-342900">
              <a:spcAft>
                <a:spcPts val="1400"/>
              </a:spcAft>
              <a:buSzPct val="100000"/>
              <a:buChar char="•"/>
            </a:pPr>
            <a:r>
              <a:rPr lang="en-US" sz="1500" dirty="0">
                <a:solidFill>
                  <a:schemeClr val="tx1"/>
                </a:solidFill>
              </a:rPr>
              <a:t>Analyse results with tables and charts, and give insights</a:t>
            </a:r>
            <a:endParaRPr lang="en-US" sz="1600" dirty="0"/>
          </a:p>
          <a:p>
            <a:pPr marL="342900" indent="-342900">
              <a:spcAft>
                <a:spcPts val="1400"/>
              </a:spcAft>
              <a:buSzPct val="100000"/>
              <a:buChar char="•"/>
            </a:pPr>
            <a:r>
              <a:rPr lang="en-US" sz="1500" dirty="0">
                <a:solidFill>
                  <a:schemeClr val="tx1"/>
                </a:solidFill>
              </a:rPr>
              <a:t>Report and a 5-8 minute video demonstration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Six questions follow the money from fare to wage</a:t>
            </a:r>
            <a:endParaRPr lang="en-US" sz="3200" dirty="0"/>
          </a:p>
        </p:txBody>
      </p:sp>
      <p:sp>
        <p:nvSpPr>
          <p:cNvPr id="3" name="Focus panel"/>
          <p:cNvSpPr/>
          <p:nvPr/>
        </p:nvSpPr>
        <p:spPr>
          <a:xfrm>
            <a:off x="548640" y="1645920"/>
            <a:ext cx="3931920" cy="4434840"/>
          </a:xfrm>
          <a:prstGeom prst="roundRect">
            <a:avLst>
              <a:gd name="adj" fmla="val 2791"/>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868680" y="1920240"/>
            <a:ext cx="3291840" cy="320040"/>
          </a:xfrm>
          <a:prstGeom prst="rect">
            <a:avLst/>
          </a:prstGeom>
          <a:noFill/>
          <a:ln/>
        </p:spPr>
        <p:txBody>
          <a:bodyPr wrap="square" lIns="0" tIns="0" rIns="0" bIns="0" rtlCol="0" anchor="t"/>
          <a:lstStyle/>
          <a:p>
            <a:pPr marL="0" indent="0">
              <a:buNone/>
            </a:pPr>
            <a:r>
              <a:rPr lang="en-US" sz="1400" b="1" dirty="0">
                <a:solidFill>
                  <a:schemeClr val="accent1"/>
                </a:solidFill>
              </a:rPr>
              <a:t>Focus area</a:t>
            </a:r>
            <a:endParaRPr lang="en-US" sz="1400" dirty="0"/>
          </a:p>
        </p:txBody>
      </p:sp>
      <p:sp>
        <p:nvSpPr>
          <p:cNvPr id="5" name="Text 3"/>
          <p:cNvSpPr txBox="1"/>
          <p:nvPr/>
        </p:nvSpPr>
        <p:spPr>
          <a:xfrm>
            <a:off x="868680" y="2331720"/>
            <a:ext cx="3291840" cy="2194560"/>
          </a:xfrm>
          <a:prstGeom prst="rect">
            <a:avLst/>
          </a:prstGeom>
          <a:noFill/>
          <a:ln/>
        </p:spPr>
        <p:txBody>
          <a:bodyPr wrap="square" lIns="0" tIns="0" rIns="0" bIns="0" rtlCol="0" anchor="t"/>
          <a:lstStyle/>
          <a:p>
            <a:pPr marL="0" indent="0">
              <a:buNone/>
            </a:pPr>
            <a:r>
              <a:rPr lang="en-US" sz="2000" i="1" dirty="0">
                <a:solidFill>
                  <a:schemeClr val="bg1"/>
                </a:solidFill>
              </a:rPr>
              <a:t>After a rider pays for an Uber or Bolt trip, does what is left for the driver, once fuel is counted, add up to a living wage?</a:t>
            </a:r>
            <a:endParaRPr lang="en-US" sz="2000" dirty="0"/>
          </a:p>
        </p:txBody>
      </p:sp>
      <p:sp>
        <p:nvSpPr>
          <p:cNvPr id="6" name="Text 4"/>
          <p:cNvSpPr txBox="1"/>
          <p:nvPr/>
        </p:nvSpPr>
        <p:spPr>
          <a:xfrm>
            <a:off x="868680" y="4572000"/>
            <a:ext cx="3291840" cy="1280160"/>
          </a:xfrm>
          <a:prstGeom prst="rect">
            <a:avLst/>
          </a:prstGeom>
          <a:noFill/>
          <a:ln/>
        </p:spPr>
        <p:txBody>
          <a:bodyPr wrap="square" lIns="0" tIns="0" rIns="0" bIns="0" rtlCol="0" anchor="t"/>
          <a:lstStyle/>
          <a:p>
            <a:pPr marL="0" indent="0">
              <a:buNone/>
            </a:pPr>
            <a:r>
              <a:rPr lang="en-US" sz="1400" dirty="0">
                <a:solidFill>
                  <a:schemeClr val="accent6"/>
                </a:solidFill>
              </a:rPr>
              <a:t>Hybrid focus: Driver Earnings, Commission &amp; Payout, plus vehicle and ride-category analysis. Seven cities, completed trips only.</a:t>
            </a:r>
            <a:endParaRPr lang="en-US" sz="1400" dirty="0"/>
          </a:p>
        </p:txBody>
      </p:sp>
      <p:sp>
        <p:nvSpPr>
          <p:cNvPr id="7" name="RQ row 1"/>
          <p:cNvSpPr/>
          <p:nvPr/>
        </p:nvSpPr>
        <p:spPr>
          <a:xfrm>
            <a:off x="4846320" y="1645920"/>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8" name="RQ badge 1"/>
          <p:cNvSpPr txBox="1"/>
          <p:nvPr/>
        </p:nvSpPr>
        <p:spPr>
          <a:xfrm>
            <a:off x="4983480" y="1746504"/>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RQ1</a:t>
            </a:r>
            <a:endParaRPr lang="en-US" sz="1100" dirty="0"/>
          </a:p>
        </p:txBody>
      </p:sp>
      <p:sp>
        <p:nvSpPr>
          <p:cNvPr id="9" name="Text 7"/>
          <p:cNvSpPr txBox="1"/>
          <p:nvPr/>
        </p:nvSpPr>
        <p:spPr>
          <a:xfrm>
            <a:off x="5623560" y="1719072"/>
            <a:ext cx="5852160" cy="512064"/>
          </a:xfrm>
          <a:prstGeom prst="rect">
            <a:avLst/>
          </a:prstGeom>
          <a:noFill/>
          <a:ln/>
        </p:spPr>
        <p:txBody>
          <a:bodyPr wrap="square" lIns="0" tIns="0" rIns="0" bIns="0" rtlCol="0" anchor="ctr"/>
          <a:lstStyle/>
          <a:p>
            <a:pPr marL="0" indent="0">
              <a:buNone/>
            </a:pPr>
            <a:r>
              <a:rPr lang="en-US" sz="1400" dirty="0">
                <a:solidFill>
                  <a:schemeClr val="tx1"/>
                </a:solidFill>
              </a:rPr>
              <a:t>Fares, commission and payout across Uber, Bolt and Dual-Platform</a:t>
            </a:r>
            <a:endParaRPr lang="en-US" sz="1400" dirty="0"/>
          </a:p>
        </p:txBody>
      </p:sp>
      <p:sp>
        <p:nvSpPr>
          <p:cNvPr id="10" name="RQ row 2"/>
          <p:cNvSpPr/>
          <p:nvPr/>
        </p:nvSpPr>
        <p:spPr>
          <a:xfrm>
            <a:off x="4846320" y="2395728"/>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11" name="RQ badge 2"/>
          <p:cNvSpPr txBox="1"/>
          <p:nvPr/>
        </p:nvSpPr>
        <p:spPr>
          <a:xfrm>
            <a:off x="4983480" y="2496312"/>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RQ2</a:t>
            </a:r>
            <a:endParaRPr lang="en-US" sz="1100" dirty="0"/>
          </a:p>
        </p:txBody>
      </p:sp>
      <p:sp>
        <p:nvSpPr>
          <p:cNvPr id="12" name="Text 10"/>
          <p:cNvSpPr txBox="1"/>
          <p:nvPr/>
        </p:nvSpPr>
        <p:spPr>
          <a:xfrm>
            <a:off x="5623560" y="2468880"/>
            <a:ext cx="5852160" cy="512064"/>
          </a:xfrm>
          <a:prstGeom prst="rect">
            <a:avLst/>
          </a:prstGeom>
          <a:noFill/>
          <a:ln/>
        </p:spPr>
        <p:txBody>
          <a:bodyPr wrap="square" lIns="0" tIns="0" rIns="0" bIns="0" rtlCol="0" anchor="ctr"/>
          <a:lstStyle/>
          <a:p>
            <a:pPr marL="0" indent="0">
              <a:buNone/>
            </a:pPr>
            <a:r>
              <a:rPr lang="en-US" sz="1400" dirty="0">
                <a:solidFill>
                  <a:schemeClr val="tx1"/>
                </a:solidFill>
              </a:rPr>
              <a:t>How strongly commission % drives the share of fare drivers keep</a:t>
            </a:r>
            <a:endParaRPr lang="en-US" sz="1400" dirty="0"/>
          </a:p>
        </p:txBody>
      </p:sp>
      <p:sp>
        <p:nvSpPr>
          <p:cNvPr id="13" name="RQ row 3"/>
          <p:cNvSpPr/>
          <p:nvPr/>
        </p:nvSpPr>
        <p:spPr>
          <a:xfrm>
            <a:off x="4846320" y="3145536"/>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14" name="RQ badge 3"/>
          <p:cNvSpPr txBox="1"/>
          <p:nvPr/>
        </p:nvSpPr>
        <p:spPr>
          <a:xfrm>
            <a:off x="4983480" y="3246120"/>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RQ3</a:t>
            </a:r>
            <a:endParaRPr lang="en-US" sz="1100" dirty="0"/>
          </a:p>
        </p:txBody>
      </p:sp>
      <p:sp>
        <p:nvSpPr>
          <p:cNvPr id="15" name="Text 13"/>
          <p:cNvSpPr txBox="1"/>
          <p:nvPr/>
        </p:nvSpPr>
        <p:spPr>
          <a:xfrm>
            <a:off x="5623560" y="3218688"/>
            <a:ext cx="5852160" cy="512064"/>
          </a:xfrm>
          <a:prstGeom prst="rect">
            <a:avLst/>
          </a:prstGeom>
          <a:noFill/>
          <a:ln/>
        </p:spPr>
        <p:txBody>
          <a:bodyPr wrap="square" lIns="0" tIns="0" rIns="0" bIns="0" rtlCol="0" anchor="ctr"/>
          <a:lstStyle/>
          <a:p>
            <a:pPr marL="0" indent="0">
              <a:buNone/>
            </a:pPr>
            <a:r>
              <a:rPr lang="en-US" sz="1400" dirty="0">
                <a:solidFill>
                  <a:schemeClr val="tx1"/>
                </a:solidFill>
              </a:rPr>
              <a:t>Which ride category pays best, in rand and as share of fare</a:t>
            </a:r>
            <a:endParaRPr lang="en-US" sz="1400" dirty="0"/>
          </a:p>
        </p:txBody>
      </p:sp>
      <p:sp>
        <p:nvSpPr>
          <p:cNvPr id="16" name="RQ row 4"/>
          <p:cNvSpPr/>
          <p:nvPr/>
        </p:nvSpPr>
        <p:spPr>
          <a:xfrm>
            <a:off x="4846320" y="3895344"/>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17" name="RQ badge 4"/>
          <p:cNvSpPr txBox="1"/>
          <p:nvPr/>
        </p:nvSpPr>
        <p:spPr>
          <a:xfrm>
            <a:off x="4983480" y="3995928"/>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RQ4</a:t>
            </a:r>
            <a:endParaRPr lang="en-US" sz="1100" dirty="0"/>
          </a:p>
        </p:txBody>
      </p:sp>
      <p:sp>
        <p:nvSpPr>
          <p:cNvPr id="18" name="Text 16"/>
          <p:cNvSpPr txBox="1"/>
          <p:nvPr/>
        </p:nvSpPr>
        <p:spPr>
          <a:xfrm>
            <a:off x="5623560" y="3968496"/>
            <a:ext cx="5852160" cy="512064"/>
          </a:xfrm>
          <a:prstGeom prst="rect">
            <a:avLst/>
          </a:prstGeom>
          <a:noFill/>
          <a:ln/>
        </p:spPr>
        <p:txBody>
          <a:bodyPr wrap="square" lIns="0" tIns="0" rIns="0" bIns="0" rtlCol="0" anchor="ctr"/>
          <a:lstStyle/>
          <a:p>
            <a:pPr marL="0" indent="0">
              <a:buNone/>
            </a:pPr>
            <a:r>
              <a:rPr lang="en-US" sz="1400" dirty="0">
                <a:solidFill>
                  <a:schemeClr val="tx1"/>
                </a:solidFill>
              </a:rPr>
              <a:t>How distance, duration, peak periods and surge affect payout</a:t>
            </a:r>
            <a:endParaRPr lang="en-US" sz="1400" dirty="0"/>
          </a:p>
        </p:txBody>
      </p:sp>
      <p:sp>
        <p:nvSpPr>
          <p:cNvPr id="19" name="RQ row 5"/>
          <p:cNvSpPr/>
          <p:nvPr/>
        </p:nvSpPr>
        <p:spPr>
          <a:xfrm>
            <a:off x="4846320" y="4645152"/>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20" name="RQ badge 5"/>
          <p:cNvSpPr txBox="1"/>
          <p:nvPr/>
        </p:nvSpPr>
        <p:spPr>
          <a:xfrm>
            <a:off x="4983480" y="4745736"/>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RQ5</a:t>
            </a:r>
            <a:endParaRPr lang="en-US" sz="1100" dirty="0"/>
          </a:p>
        </p:txBody>
      </p:sp>
      <p:sp>
        <p:nvSpPr>
          <p:cNvPr id="21" name="Text 19"/>
          <p:cNvSpPr txBox="1"/>
          <p:nvPr/>
        </p:nvSpPr>
        <p:spPr>
          <a:xfrm>
            <a:off x="5623560" y="4718304"/>
            <a:ext cx="5852160" cy="512064"/>
          </a:xfrm>
          <a:prstGeom prst="rect">
            <a:avLst/>
          </a:prstGeom>
          <a:noFill/>
          <a:ln/>
        </p:spPr>
        <p:txBody>
          <a:bodyPr wrap="square" lIns="0" tIns="0" rIns="0" bIns="0" rtlCol="0" anchor="ctr"/>
          <a:lstStyle/>
          <a:p>
            <a:pPr marL="0" indent="0">
              <a:buNone/>
            </a:pPr>
            <a:r>
              <a:rPr lang="en-US" sz="1400" dirty="0">
                <a:solidFill>
                  <a:schemeClr val="tx1"/>
                </a:solidFill>
              </a:rPr>
              <a:t>Which city and ride-category combination pays the most</a:t>
            </a:r>
            <a:endParaRPr lang="en-US" sz="1400" dirty="0"/>
          </a:p>
        </p:txBody>
      </p:sp>
      <p:sp>
        <p:nvSpPr>
          <p:cNvPr id="22" name="RQ row 6"/>
          <p:cNvSpPr/>
          <p:nvPr/>
        </p:nvSpPr>
        <p:spPr>
          <a:xfrm>
            <a:off x="4846320" y="5394960"/>
            <a:ext cx="6793992" cy="658368"/>
          </a:xfrm>
          <a:prstGeom prst="roundRect">
            <a:avLst>
              <a:gd name="adj" fmla="val 16667"/>
            </a:avLst>
          </a:prstGeom>
          <a:solidFill>
            <a:srgbClr val="FFF3CC"/>
          </a:solidFill>
          <a:ln w="6350">
            <a:solidFill>
              <a:srgbClr val="FFF3CC"/>
            </a:solidFill>
            <a:prstDash val="solid"/>
          </a:ln>
        </p:spPr>
        <p:txBody>
          <a:bodyPr/>
          <a:lstStyle/>
          <a:p>
            <a:endParaRPr lang="en-ZA"/>
          </a:p>
        </p:txBody>
      </p:sp>
      <p:sp>
        <p:nvSpPr>
          <p:cNvPr id="23" name="RQ badge 6"/>
          <p:cNvSpPr txBox="1"/>
          <p:nvPr/>
        </p:nvSpPr>
        <p:spPr>
          <a:xfrm>
            <a:off x="4983480" y="5495544"/>
            <a:ext cx="457200" cy="457200"/>
          </a:xfrm>
          <a:prstGeom prst="ellipse">
            <a:avLst/>
          </a:prstGeom>
          <a:solidFill>
            <a:schemeClr val="accent1"/>
          </a:solidFill>
          <a:ln w="6350">
            <a:solidFill>
              <a:schemeClr val="accent1"/>
            </a:solidFill>
          </a:ln>
        </p:spPr>
        <p:txBody>
          <a:bodyPr wrap="square" lIns="0" tIns="0" rIns="0" bIns="0" rtlCol="0" anchor="ctr"/>
          <a:lstStyle/>
          <a:p>
            <a:pPr marL="0" indent="0" algn="ctr">
              <a:buNone/>
            </a:pPr>
            <a:r>
              <a:rPr lang="en-US" sz="1100" b="1" dirty="0">
                <a:solidFill>
                  <a:schemeClr val="tx2"/>
                </a:solidFill>
              </a:rPr>
              <a:t>RQ6</a:t>
            </a:r>
            <a:endParaRPr lang="en-US" sz="1100" dirty="0"/>
          </a:p>
        </p:txBody>
      </p:sp>
      <p:sp>
        <p:nvSpPr>
          <p:cNvPr id="24" name="Text 22"/>
          <p:cNvSpPr txBox="1"/>
          <p:nvPr/>
        </p:nvSpPr>
        <p:spPr>
          <a:xfrm>
            <a:off x="5623560" y="5468112"/>
            <a:ext cx="5852160" cy="512064"/>
          </a:xfrm>
          <a:prstGeom prst="rect">
            <a:avLst/>
          </a:prstGeom>
          <a:noFill/>
          <a:ln/>
        </p:spPr>
        <p:txBody>
          <a:bodyPr wrap="square" lIns="0" tIns="0" rIns="0" bIns="0" rtlCol="0" anchor="ctr"/>
          <a:lstStyle/>
          <a:p>
            <a:pPr marL="0" indent="0">
              <a:buNone/>
            </a:pPr>
            <a:r>
              <a:rPr lang="en-US" sz="1400" b="1" dirty="0">
                <a:solidFill>
                  <a:schemeClr val="tx1"/>
                </a:solidFill>
              </a:rPr>
              <a:t>After fuel, does hourly net pay beat the R30.23 minimum wage?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The dataset: 50,000 trips across seven cities</a:t>
            </a:r>
            <a:endParaRPr lang="en-US" sz="3200" dirty="0"/>
          </a:p>
        </p:txBody>
      </p:sp>
      <p:sp>
        <p:nvSpPr>
          <p:cNvPr id="3" name="Stat card 1"/>
          <p:cNvSpPr/>
          <p:nvPr/>
        </p:nvSpPr>
        <p:spPr>
          <a:xfrm>
            <a:off x="548640" y="164592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777240" y="178308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50,000</a:t>
            </a:r>
            <a:endParaRPr lang="en-US" sz="4000" dirty="0"/>
          </a:p>
        </p:txBody>
      </p:sp>
      <p:sp>
        <p:nvSpPr>
          <p:cNvPr id="5" name="Text 3"/>
          <p:cNvSpPr txBox="1"/>
          <p:nvPr/>
        </p:nvSpPr>
        <p:spPr>
          <a:xfrm>
            <a:off x="777240" y="2468880"/>
            <a:ext cx="2834640" cy="457200"/>
          </a:xfrm>
          <a:prstGeom prst="rect">
            <a:avLst/>
          </a:prstGeom>
          <a:noFill/>
          <a:ln/>
        </p:spPr>
        <p:txBody>
          <a:bodyPr wrap="square" lIns="0" tIns="0" rIns="0" bIns="0" rtlCol="0" anchor="t"/>
          <a:lstStyle/>
          <a:p>
            <a:pPr marL="0" indent="0">
              <a:buNone/>
            </a:pPr>
            <a:r>
              <a:rPr lang="en-US" sz="1400" dirty="0">
                <a:solidFill>
                  <a:schemeClr val="bg1"/>
                </a:solidFill>
              </a:rPr>
              <a:t>trips from 1 March 2025 to 31 March 2026</a:t>
            </a:r>
            <a:endParaRPr lang="en-US" sz="1400" dirty="0"/>
          </a:p>
        </p:txBody>
      </p:sp>
      <p:sp>
        <p:nvSpPr>
          <p:cNvPr id="6" name="Stat card 2"/>
          <p:cNvSpPr/>
          <p:nvPr/>
        </p:nvSpPr>
        <p:spPr>
          <a:xfrm>
            <a:off x="548640" y="320040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7" name="Text 5"/>
          <p:cNvSpPr txBox="1"/>
          <p:nvPr/>
        </p:nvSpPr>
        <p:spPr>
          <a:xfrm>
            <a:off x="777240" y="333756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33,331</a:t>
            </a:r>
            <a:endParaRPr lang="en-US" sz="4000" dirty="0"/>
          </a:p>
        </p:txBody>
      </p:sp>
      <p:sp>
        <p:nvSpPr>
          <p:cNvPr id="8" name="Text 6"/>
          <p:cNvSpPr txBox="1"/>
          <p:nvPr/>
        </p:nvSpPr>
        <p:spPr>
          <a:xfrm>
            <a:off x="777240" y="4023360"/>
            <a:ext cx="2834640" cy="457200"/>
          </a:xfrm>
          <a:prstGeom prst="rect">
            <a:avLst/>
          </a:prstGeom>
          <a:noFill/>
          <a:ln/>
        </p:spPr>
        <p:txBody>
          <a:bodyPr wrap="square" lIns="0" tIns="0" rIns="0" bIns="0" rtlCol="0" anchor="t"/>
          <a:lstStyle/>
          <a:p>
            <a:pPr marL="0" indent="0">
              <a:buNone/>
            </a:pPr>
            <a:r>
              <a:rPr lang="en-US" sz="1400" dirty="0">
                <a:solidFill>
                  <a:schemeClr val="bg1"/>
                </a:solidFill>
              </a:rPr>
              <a:t>completed trips (66.7%) behind every earnings query</a:t>
            </a:r>
            <a:endParaRPr lang="en-US" sz="1400" dirty="0"/>
          </a:p>
        </p:txBody>
      </p:sp>
      <p:sp>
        <p:nvSpPr>
          <p:cNvPr id="9" name="Stat card 3"/>
          <p:cNvSpPr/>
          <p:nvPr/>
        </p:nvSpPr>
        <p:spPr>
          <a:xfrm>
            <a:off x="548640" y="475488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10" name="Text 8"/>
          <p:cNvSpPr txBox="1"/>
          <p:nvPr/>
        </p:nvSpPr>
        <p:spPr>
          <a:xfrm>
            <a:off x="777240" y="489204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7</a:t>
            </a:r>
            <a:endParaRPr lang="en-US" sz="4000" dirty="0"/>
          </a:p>
        </p:txBody>
      </p:sp>
      <p:sp>
        <p:nvSpPr>
          <p:cNvPr id="11" name="Text 9"/>
          <p:cNvSpPr txBox="1"/>
          <p:nvPr/>
        </p:nvSpPr>
        <p:spPr>
          <a:xfrm>
            <a:off x="777240" y="5577840"/>
            <a:ext cx="2834640" cy="457200"/>
          </a:xfrm>
          <a:prstGeom prst="rect">
            <a:avLst/>
          </a:prstGeom>
          <a:noFill/>
          <a:ln/>
        </p:spPr>
        <p:txBody>
          <a:bodyPr wrap="square" lIns="0" tIns="0" rIns="0" bIns="0" rtlCol="0" anchor="t"/>
          <a:lstStyle/>
          <a:p>
            <a:pPr marL="0" indent="0">
              <a:buNone/>
            </a:pPr>
            <a:r>
              <a:rPr lang="en-US" sz="1400" dirty="0">
                <a:solidFill>
                  <a:schemeClr val="bg1"/>
                </a:solidFill>
              </a:rPr>
              <a:t>cities from Cape Town to Vanderbijlpark</a:t>
            </a:r>
            <a:endParaRPr lang="en-US" sz="1400" dirty="0"/>
          </a:p>
        </p:txBody>
      </p:sp>
      <p:sp>
        <p:nvSpPr>
          <p:cNvPr id="12" name="Decision card 1"/>
          <p:cNvSpPr/>
          <p:nvPr/>
        </p:nvSpPr>
        <p:spPr>
          <a:xfrm>
            <a:off x="4206240"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3" name="Text 11"/>
          <p:cNvSpPr txBox="1"/>
          <p:nvPr/>
        </p:nvSpPr>
        <p:spPr>
          <a:xfrm>
            <a:off x="4389120"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Drivers and vehicles</a:t>
            </a:r>
            <a:endParaRPr lang="en-US" sz="1600" dirty="0"/>
          </a:p>
        </p:txBody>
      </p:sp>
      <p:sp>
        <p:nvSpPr>
          <p:cNvPr id="14" name="Text 12"/>
          <p:cNvSpPr txBox="1"/>
          <p:nvPr/>
        </p:nvSpPr>
        <p:spPr>
          <a:xfrm>
            <a:off x="4389120"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800 drivers with one vehicle each; commission 20-25%</a:t>
            </a:r>
            <a:endParaRPr lang="en-US" sz="1400" dirty="0"/>
          </a:p>
        </p:txBody>
      </p:sp>
      <p:sp>
        <p:nvSpPr>
          <p:cNvPr id="15" name="Decision card 2"/>
          <p:cNvSpPr/>
          <p:nvPr/>
        </p:nvSpPr>
        <p:spPr>
          <a:xfrm>
            <a:off x="8074152"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6" name="Text 14"/>
          <p:cNvSpPr txBox="1"/>
          <p:nvPr/>
        </p:nvSpPr>
        <p:spPr>
          <a:xfrm>
            <a:off x="8257032"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Riders and zones</a:t>
            </a:r>
            <a:endParaRPr lang="en-US" sz="1600" dirty="0"/>
          </a:p>
        </p:txBody>
      </p:sp>
      <p:sp>
        <p:nvSpPr>
          <p:cNvPr id="17" name="Text 15"/>
          <p:cNvSpPr txBox="1"/>
          <p:nvPr/>
        </p:nvSpPr>
        <p:spPr>
          <a:xfrm>
            <a:off x="8257032"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1,200 riders and 9 pricing zones in seven cities</a:t>
            </a:r>
            <a:endParaRPr lang="en-US" sz="1400" dirty="0"/>
          </a:p>
        </p:txBody>
      </p:sp>
      <p:sp>
        <p:nvSpPr>
          <p:cNvPr id="18" name="Decision card 3"/>
          <p:cNvSpPr/>
          <p:nvPr/>
        </p:nvSpPr>
        <p:spPr>
          <a:xfrm>
            <a:off x="4206240"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9" name="Text 17"/>
          <p:cNvSpPr txBox="1"/>
          <p:nvPr/>
        </p:nvSpPr>
        <p:spPr>
          <a:xfrm>
            <a:off x="4389120"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Reviews</a:t>
            </a:r>
            <a:endParaRPr lang="en-US" sz="1600" dirty="0"/>
          </a:p>
        </p:txBody>
      </p:sp>
      <p:sp>
        <p:nvSpPr>
          <p:cNvPr id="20" name="Text 18"/>
          <p:cNvSpPr txBox="1"/>
          <p:nvPr/>
        </p:nvSpPr>
        <p:spPr>
          <a:xfrm>
            <a:off x="4389120"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25,055 reviews: only about half of trips are rated</a:t>
            </a:r>
            <a:endParaRPr lang="en-US" sz="1400" dirty="0"/>
          </a:p>
        </p:txBody>
      </p:sp>
      <p:sp>
        <p:nvSpPr>
          <p:cNvPr id="21" name="Decision card 4"/>
          <p:cNvSpPr/>
          <p:nvPr/>
        </p:nvSpPr>
        <p:spPr>
          <a:xfrm>
            <a:off x="8074152"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2" name="Text 20"/>
          <p:cNvSpPr txBox="1"/>
          <p:nvPr/>
        </p:nvSpPr>
        <p:spPr>
          <a:xfrm>
            <a:off x="8257032"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Cancelled trips</a:t>
            </a:r>
            <a:endParaRPr lang="en-US" sz="1600" dirty="0"/>
          </a:p>
        </p:txBody>
      </p:sp>
      <p:sp>
        <p:nvSpPr>
          <p:cNvPr id="23" name="Text 21"/>
          <p:cNvSpPr txBox="1"/>
          <p:nvPr/>
        </p:nvSpPr>
        <p:spPr>
          <a:xfrm>
            <a:off x="8257032"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8,417 by rider, 8,252 by driver; zero fare and payout</a:t>
            </a:r>
            <a:endParaRPr lang="en-US" sz="1400" dirty="0"/>
          </a:p>
        </p:txBody>
      </p:sp>
      <p:sp>
        <p:nvSpPr>
          <p:cNvPr id="24" name="Decision card 5"/>
          <p:cNvSpPr/>
          <p:nvPr/>
        </p:nvSpPr>
        <p:spPr>
          <a:xfrm>
            <a:off x="4206240"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5" name="Text 23"/>
          <p:cNvSpPr txBox="1"/>
          <p:nvPr/>
        </p:nvSpPr>
        <p:spPr>
          <a:xfrm>
            <a:off x="4389120"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Value ranges</a:t>
            </a:r>
            <a:endParaRPr lang="en-US" sz="1600" dirty="0"/>
          </a:p>
        </p:txBody>
      </p:sp>
      <p:sp>
        <p:nvSpPr>
          <p:cNvPr id="26" name="Text 24"/>
          <p:cNvSpPr txBox="1"/>
          <p:nvPr/>
        </p:nvSpPr>
        <p:spPr>
          <a:xfrm>
            <a:off x="4389120"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Distance 0-48 km, duration 0-182 min, surge 1.0-2.4</a:t>
            </a:r>
            <a:endParaRPr lang="en-US" sz="1400" dirty="0"/>
          </a:p>
        </p:txBody>
      </p:sp>
      <p:sp>
        <p:nvSpPr>
          <p:cNvPr id="27" name="Decision card 6"/>
          <p:cNvSpPr/>
          <p:nvPr/>
        </p:nvSpPr>
        <p:spPr>
          <a:xfrm>
            <a:off x="8074152"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8" name="Text 26"/>
          <p:cNvSpPr txBox="1"/>
          <p:nvPr/>
        </p:nvSpPr>
        <p:spPr>
          <a:xfrm>
            <a:off x="8257032"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A rule that holds</a:t>
            </a:r>
            <a:endParaRPr lang="en-US" sz="1600" dirty="0"/>
          </a:p>
        </p:txBody>
      </p:sp>
      <p:sp>
        <p:nvSpPr>
          <p:cNvPr id="29" name="Text 27"/>
          <p:cNvSpPr txBox="1"/>
          <p:nvPr/>
        </p:nvSpPr>
        <p:spPr>
          <a:xfrm>
            <a:off x="8257032"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On completed trips, fare minus commission equals payout</a:t>
            </a:r>
            <a:endParaRPr lang="en-US" sz="1400" dirty="0"/>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A constrained PostgreSQL schema built for analysis</a:t>
            </a:r>
            <a:endParaRPr lang="en-US" sz="3200" dirty="0"/>
          </a:p>
        </p:txBody>
      </p:sp>
      <p:sp>
        <p:nvSpPr>
          <p:cNvPr id="3" name="Stat card 1"/>
          <p:cNvSpPr/>
          <p:nvPr/>
        </p:nvSpPr>
        <p:spPr>
          <a:xfrm>
            <a:off x="548640" y="164592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777240" y="178308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7</a:t>
            </a:r>
            <a:endParaRPr lang="en-US" sz="4000" dirty="0"/>
          </a:p>
        </p:txBody>
      </p:sp>
      <p:sp>
        <p:nvSpPr>
          <p:cNvPr id="5" name="Text 3"/>
          <p:cNvSpPr txBox="1"/>
          <p:nvPr/>
        </p:nvSpPr>
        <p:spPr>
          <a:xfrm>
            <a:off x="777240" y="2468880"/>
            <a:ext cx="2834640" cy="457200"/>
          </a:xfrm>
          <a:prstGeom prst="rect">
            <a:avLst/>
          </a:prstGeom>
          <a:noFill/>
          <a:ln/>
        </p:spPr>
        <p:txBody>
          <a:bodyPr wrap="square" lIns="0" tIns="0" rIns="0" bIns="0" rtlCol="0" anchor="t"/>
          <a:lstStyle/>
          <a:p>
            <a:pPr marL="0" indent="0">
              <a:buNone/>
            </a:pPr>
            <a:r>
              <a:rPr lang="en-US" sz="1400" dirty="0">
                <a:solidFill>
                  <a:schemeClr val="bg1"/>
                </a:solidFill>
              </a:rPr>
              <a:t>linked tables with enforced keys</a:t>
            </a:r>
            <a:endParaRPr lang="en-US" sz="1400" dirty="0"/>
          </a:p>
        </p:txBody>
      </p:sp>
      <p:sp>
        <p:nvSpPr>
          <p:cNvPr id="6" name="Stat card 2"/>
          <p:cNvSpPr/>
          <p:nvPr/>
        </p:nvSpPr>
        <p:spPr>
          <a:xfrm>
            <a:off x="548640" y="320040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7" name="Text 5"/>
          <p:cNvSpPr txBox="1"/>
          <p:nvPr/>
        </p:nvSpPr>
        <p:spPr>
          <a:xfrm>
            <a:off x="777240" y="333756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22</a:t>
            </a:r>
            <a:endParaRPr lang="en-US" sz="4000" dirty="0"/>
          </a:p>
        </p:txBody>
      </p:sp>
      <p:sp>
        <p:nvSpPr>
          <p:cNvPr id="8" name="Text 6"/>
          <p:cNvSpPr txBox="1"/>
          <p:nvPr/>
        </p:nvSpPr>
        <p:spPr>
          <a:xfrm>
            <a:off x="777240" y="4023360"/>
            <a:ext cx="2834640" cy="457200"/>
          </a:xfrm>
          <a:prstGeom prst="rect">
            <a:avLst/>
          </a:prstGeom>
          <a:noFill/>
          <a:ln/>
        </p:spPr>
        <p:txBody>
          <a:bodyPr wrap="square" lIns="0" tIns="0" rIns="0" bIns="0" rtlCol="0" anchor="t"/>
          <a:lstStyle/>
          <a:p>
            <a:pPr marL="0" indent="0">
              <a:buNone/>
            </a:pPr>
            <a:r>
              <a:rPr lang="en-US" sz="1400" dirty="0">
                <a:solidFill>
                  <a:schemeClr val="bg1"/>
                </a:solidFill>
              </a:rPr>
              <a:t>CHECK constraints guard values and domains</a:t>
            </a:r>
            <a:endParaRPr lang="en-US" sz="1400" dirty="0"/>
          </a:p>
        </p:txBody>
      </p:sp>
      <p:sp>
        <p:nvSpPr>
          <p:cNvPr id="9" name="Stat card 3"/>
          <p:cNvSpPr/>
          <p:nvPr/>
        </p:nvSpPr>
        <p:spPr>
          <a:xfrm>
            <a:off x="548640" y="475488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10" name="Text 8"/>
          <p:cNvSpPr txBox="1"/>
          <p:nvPr/>
        </p:nvSpPr>
        <p:spPr>
          <a:xfrm>
            <a:off x="777240" y="489204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8</a:t>
            </a:r>
            <a:endParaRPr lang="en-US" sz="4000" dirty="0"/>
          </a:p>
        </p:txBody>
      </p:sp>
      <p:sp>
        <p:nvSpPr>
          <p:cNvPr id="11" name="Text 9"/>
          <p:cNvSpPr txBox="1"/>
          <p:nvPr/>
        </p:nvSpPr>
        <p:spPr>
          <a:xfrm>
            <a:off x="777240" y="5577840"/>
            <a:ext cx="2834640" cy="457200"/>
          </a:xfrm>
          <a:prstGeom prst="rect">
            <a:avLst/>
          </a:prstGeom>
          <a:noFill/>
          <a:ln/>
        </p:spPr>
        <p:txBody>
          <a:bodyPr wrap="square" lIns="0" tIns="0" rIns="0" bIns="0" rtlCol="0" anchor="t"/>
          <a:lstStyle/>
          <a:p>
            <a:pPr marL="0" indent="0">
              <a:buNone/>
            </a:pPr>
            <a:r>
              <a:rPr lang="en-US" sz="1400" dirty="0">
                <a:solidFill>
                  <a:schemeClr val="bg1"/>
                </a:solidFill>
              </a:rPr>
              <a:t>indexes on join and filter columns</a:t>
            </a:r>
            <a:endParaRPr lang="en-US" sz="1400" dirty="0"/>
          </a:p>
        </p:txBody>
      </p:sp>
      <p:sp>
        <p:nvSpPr>
          <p:cNvPr id="12" name="Decision card 1"/>
          <p:cNvSpPr/>
          <p:nvPr/>
        </p:nvSpPr>
        <p:spPr>
          <a:xfrm>
            <a:off x="4206240"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3" name="Text 11"/>
          <p:cNvSpPr txBox="1"/>
          <p:nvPr/>
        </p:nvSpPr>
        <p:spPr>
          <a:xfrm>
            <a:off x="4389120"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Primary keys everywhere</a:t>
            </a:r>
            <a:endParaRPr lang="en-US" sz="1600" dirty="0"/>
          </a:p>
        </p:txBody>
      </p:sp>
      <p:sp>
        <p:nvSpPr>
          <p:cNvPr id="14" name="Text 12"/>
          <p:cNvSpPr txBox="1"/>
          <p:nvPr/>
        </p:nvSpPr>
        <p:spPr>
          <a:xfrm>
            <a:off x="4389120"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Readable VARCHAR IDs such as DRV_00001 and VEH_00001 keep the source identifiers</a:t>
            </a:r>
            <a:endParaRPr lang="en-US" sz="1400" dirty="0"/>
          </a:p>
        </p:txBody>
      </p:sp>
      <p:sp>
        <p:nvSpPr>
          <p:cNvPr id="15" name="Decision card 2"/>
          <p:cNvSpPr/>
          <p:nvPr/>
        </p:nvSpPr>
        <p:spPr>
          <a:xfrm>
            <a:off x="8074152"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6" name="Text 14"/>
          <p:cNvSpPr txBox="1"/>
          <p:nvPr/>
        </p:nvSpPr>
        <p:spPr>
          <a:xfrm>
            <a:off x="8257032"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Foreign keys enforce links</a:t>
            </a:r>
            <a:endParaRPr lang="en-US" sz="1600" dirty="0"/>
          </a:p>
        </p:txBody>
      </p:sp>
      <p:sp>
        <p:nvSpPr>
          <p:cNvPr id="17" name="Text 15"/>
          <p:cNvSpPr txBox="1"/>
          <p:nvPr/>
        </p:nvSpPr>
        <p:spPr>
          <a:xfrm>
            <a:off x="8257032"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Vehicles to drivers; trips to riders, drivers and zones; fares and reviews to trips</a:t>
            </a:r>
            <a:endParaRPr lang="en-US" sz="1400" dirty="0"/>
          </a:p>
        </p:txBody>
      </p:sp>
      <p:sp>
        <p:nvSpPr>
          <p:cNvPr id="18" name="Decision card 3"/>
          <p:cNvSpPr/>
          <p:nvPr/>
        </p:nvSpPr>
        <p:spPr>
          <a:xfrm>
            <a:off x="4206240"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9" name="Text 17"/>
          <p:cNvSpPr txBox="1"/>
          <p:nvPr/>
        </p:nvSpPr>
        <p:spPr>
          <a:xfrm>
            <a:off x="4389120"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CHECK constraints guard domains</a:t>
            </a:r>
            <a:endParaRPr lang="en-US" sz="1600" dirty="0"/>
          </a:p>
        </p:txBody>
      </p:sp>
      <p:sp>
        <p:nvSpPr>
          <p:cNvPr id="20" name="Text 18"/>
          <p:cNvSpPr txBox="1"/>
          <p:nvPr/>
        </p:nvSpPr>
        <p:spPr>
          <a:xfrm>
            <a:off x="4389120"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Commission 0–1, rating 0–5, allowed status, category and payment values</a:t>
            </a:r>
            <a:endParaRPr lang="en-US" sz="1400" dirty="0"/>
          </a:p>
        </p:txBody>
      </p:sp>
      <p:sp>
        <p:nvSpPr>
          <p:cNvPr id="21" name="Decision card 4"/>
          <p:cNvSpPr/>
          <p:nvPr/>
        </p:nvSpPr>
        <p:spPr>
          <a:xfrm>
            <a:off x="8074152"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2" name="Text 20"/>
          <p:cNvSpPr txBox="1"/>
          <p:nvPr/>
        </p:nvSpPr>
        <p:spPr>
          <a:xfrm>
            <a:off x="8257032"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Right data types</a:t>
            </a:r>
            <a:endParaRPr lang="en-US" sz="1600" dirty="0"/>
          </a:p>
        </p:txBody>
      </p:sp>
      <p:sp>
        <p:nvSpPr>
          <p:cNvPr id="23" name="Text 21"/>
          <p:cNvSpPr txBox="1"/>
          <p:nvPr/>
        </p:nvSpPr>
        <p:spPr>
          <a:xfrm>
            <a:off x="8257032"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NUMERIC for rand amounts, TIMESTAMP for requests, DATE for onboarding</a:t>
            </a:r>
            <a:endParaRPr lang="en-US" sz="1400" dirty="0"/>
          </a:p>
        </p:txBody>
      </p:sp>
      <p:sp>
        <p:nvSpPr>
          <p:cNvPr id="24" name="Decision card 5"/>
          <p:cNvSpPr/>
          <p:nvPr/>
        </p:nvSpPr>
        <p:spPr>
          <a:xfrm>
            <a:off x="4206240"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5" name="Text 23"/>
          <p:cNvSpPr txBox="1"/>
          <p:nvPr/>
        </p:nvSpPr>
        <p:spPr>
          <a:xfrm>
            <a:off x="4389120"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NOT NULL and UNIQUE</a:t>
            </a:r>
            <a:endParaRPr lang="en-US" sz="1600" dirty="0"/>
          </a:p>
        </p:txBody>
      </p:sp>
      <p:sp>
        <p:nvSpPr>
          <p:cNvPr id="26" name="Text 24"/>
          <p:cNvSpPr txBox="1"/>
          <p:nvPr/>
        </p:nvSpPr>
        <p:spPr>
          <a:xfrm>
            <a:off x="4389120"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Key fields are mandatory and license_plate is unique</a:t>
            </a:r>
            <a:endParaRPr lang="en-US" sz="1400" dirty="0"/>
          </a:p>
        </p:txBody>
      </p:sp>
      <p:sp>
        <p:nvSpPr>
          <p:cNvPr id="27" name="Decision card 6"/>
          <p:cNvSpPr/>
          <p:nvPr/>
        </p:nvSpPr>
        <p:spPr>
          <a:xfrm>
            <a:off x="8074152"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8" name="Text 26"/>
          <p:cNvSpPr txBox="1"/>
          <p:nvPr/>
        </p:nvSpPr>
        <p:spPr>
          <a:xfrm>
            <a:off x="8257032"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Indexes on query paths</a:t>
            </a:r>
            <a:endParaRPr lang="en-US" sz="1600" dirty="0"/>
          </a:p>
        </p:txBody>
      </p:sp>
      <p:sp>
        <p:nvSpPr>
          <p:cNvPr id="29" name="Text 27"/>
          <p:cNvSpPr txBox="1"/>
          <p:nvPr/>
        </p:nvSpPr>
        <p:spPr>
          <a:xfrm>
            <a:off x="8257032"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Foreign keys, timestamp, status and ride category speed joins and filters</a:t>
            </a:r>
            <a:endParaRPr lang="en-US" sz="1400" dirty="0"/>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Database design: ERD with keys and relationships</a:t>
            </a:r>
            <a:endParaRPr lang="en-US" sz="3200" dirty="0"/>
          </a:p>
        </p:txBody>
      </p:sp>
      <p:sp>
        <p:nvSpPr>
          <p:cNvPr id="42"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
        <p:nvSpPr>
          <p:cNvPr id="43" name="Rectangle 42"/>
          <p:cNvSpPr/>
          <p:nvPr/>
        </p:nvSpPr>
        <p:spPr>
          <a:xfrm>
            <a:off x="548640" y="1325880"/>
            <a:ext cx="2834640" cy="2560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rPr>
              <a:t>trip_reviews</a:t>
            </a:r>
          </a:p>
        </p:txBody>
      </p:sp>
      <p:sp>
        <p:nvSpPr>
          <p:cNvPr id="44" name="Rectangle 43"/>
          <p:cNvSpPr/>
          <p:nvPr/>
        </p:nvSpPr>
        <p:spPr>
          <a:xfrm>
            <a:off x="548640" y="1581912"/>
            <a:ext cx="2834640" cy="853439"/>
          </a:xfrm>
          <a:prstGeom prst="rect">
            <a:avLst/>
          </a:prstGeom>
          <a:solidFill>
            <a:srgbClr val="FFFFFF"/>
          </a:solidFill>
          <a:ln w="952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1792" y="1627632"/>
            <a:ext cx="566928" cy="761999"/>
          </a:xfrm>
          <a:prstGeom prst="rect">
            <a:avLst/>
          </a:prstGeom>
          <a:noFill/>
        </p:spPr>
        <p:txBody>
          <a:bodyPr wrap="none" lIns="0" tIns="0" rIns="0" bIns="0">
            <a:spAutoFit/>
          </a:bodyPr>
          <a:lstStyle/>
          <a:p>
            <a:pPr>
              <a:lnSpc>
                <a:spcPts val="1200"/>
              </a:lnSpc>
              <a:spcBef>
                <a:spcPts val="0"/>
              </a:spcBef>
              <a:spcAft>
                <a:spcPts val="0"/>
              </a:spcAft>
            </a:pPr>
            <a:r>
              <a:rPr sz="950" b="1">
                <a:solidFill>
                  <a:srgbClr val="B07A00"/>
                </a:solidFill>
              </a:rPr>
              <a:t>PK</a:t>
            </a:r>
          </a:p>
          <a:p>
            <a:pPr>
              <a:lnSpc>
                <a:spcPts val="1200"/>
              </a:lnSpc>
              <a:spcBef>
                <a:spcPts val="0"/>
              </a:spcBef>
              <a:spcAft>
                <a:spcPts val="0"/>
              </a:spcAft>
            </a:pPr>
            <a:r>
              <a:rPr sz="950" b="1">
                <a:solidFill>
                  <a:srgbClr val="1FA39B"/>
                </a:solidFill>
              </a:rPr>
              <a:t>FK</a:t>
            </a:r>
          </a:p>
          <a:p>
            <a:pPr>
              <a:lnSpc>
                <a:spcPts val="1200"/>
              </a:lnSpc>
              <a:spcBef>
                <a:spcPts val="0"/>
              </a:spcBef>
              <a:spcAft>
                <a:spcPts val="0"/>
              </a:spcAft>
            </a:pPr>
            <a:endParaRPr sz="950" b="1">
              <a:solidFill>
                <a:srgbClr val="1FA39B"/>
              </a:solidFill>
            </a:endParaRPr>
          </a:p>
          <a:p>
            <a:pPr>
              <a:lnSpc>
                <a:spcPts val="1200"/>
              </a:lnSpc>
              <a:spcBef>
                <a:spcPts val="0"/>
              </a:spcBef>
              <a:spcAft>
                <a:spcPts val="0"/>
              </a:spcAft>
            </a:pPr>
            <a:endParaRPr sz="950" b="1">
              <a:solidFill>
                <a:srgbClr val="1FA39B"/>
              </a:solidFill>
            </a:endParaRPr>
          </a:p>
          <a:p>
            <a:pPr>
              <a:lnSpc>
                <a:spcPts val="1200"/>
              </a:lnSpc>
              <a:spcBef>
                <a:spcPts val="0"/>
              </a:spcBef>
              <a:spcAft>
                <a:spcPts val="0"/>
              </a:spcAft>
            </a:pPr>
            <a:endParaRPr sz="950" b="1">
              <a:solidFill>
                <a:srgbClr val="1FA39B"/>
              </a:solidFill>
            </a:endParaRPr>
          </a:p>
        </p:txBody>
      </p:sp>
      <p:sp>
        <p:nvSpPr>
          <p:cNvPr id="46" name="TextBox 45"/>
          <p:cNvSpPr txBox="1"/>
          <p:nvPr/>
        </p:nvSpPr>
        <p:spPr>
          <a:xfrm>
            <a:off x="1207007" y="1627632"/>
            <a:ext cx="2121408" cy="761999"/>
          </a:xfrm>
          <a:prstGeom prst="rect">
            <a:avLst/>
          </a:prstGeom>
          <a:noFill/>
        </p:spPr>
        <p:txBody>
          <a:bodyPr wrap="none" lIns="0" tIns="0" rIns="0" bIns="0">
            <a:spAutoFit/>
          </a:bodyPr>
          <a:lstStyle/>
          <a:p>
            <a:pPr>
              <a:lnSpc>
                <a:spcPts val="1200"/>
              </a:lnSpc>
              <a:spcBef>
                <a:spcPts val="0"/>
              </a:spcBef>
              <a:spcAft>
                <a:spcPts val="0"/>
              </a:spcAft>
            </a:pPr>
            <a:r>
              <a:rPr sz="950" b="1">
                <a:solidFill>
                  <a:srgbClr val="0B1F3A"/>
                </a:solidFill>
              </a:rPr>
              <a:t>review_id</a:t>
            </a:r>
          </a:p>
          <a:p>
            <a:pPr>
              <a:lnSpc>
                <a:spcPts val="1200"/>
              </a:lnSpc>
              <a:spcBef>
                <a:spcPts val="0"/>
              </a:spcBef>
              <a:spcAft>
                <a:spcPts val="0"/>
              </a:spcAft>
            </a:pPr>
            <a:r>
              <a:rPr sz="950" b="0">
                <a:solidFill>
                  <a:srgbClr val="0B1F3A"/>
                </a:solidFill>
              </a:rPr>
              <a:t>trip_id → trip_headers</a:t>
            </a:r>
          </a:p>
          <a:p>
            <a:pPr>
              <a:lnSpc>
                <a:spcPts val="1200"/>
              </a:lnSpc>
              <a:spcBef>
                <a:spcPts val="0"/>
              </a:spcBef>
              <a:spcAft>
                <a:spcPts val="0"/>
              </a:spcAft>
            </a:pPr>
            <a:r>
              <a:rPr sz="950" b="0">
                <a:solidFill>
                  <a:srgbClr val="0B1F3A"/>
                </a:solidFill>
              </a:rPr>
              <a:t>rider_rating_of_driver</a:t>
            </a:r>
          </a:p>
          <a:p>
            <a:pPr>
              <a:lnSpc>
                <a:spcPts val="1200"/>
              </a:lnSpc>
              <a:spcBef>
                <a:spcPts val="0"/>
              </a:spcBef>
              <a:spcAft>
                <a:spcPts val="0"/>
              </a:spcAft>
            </a:pPr>
            <a:r>
              <a:rPr sz="950" b="0">
                <a:solidFill>
                  <a:srgbClr val="0B1F3A"/>
                </a:solidFill>
              </a:rPr>
              <a:t>driver_rating_of_rider</a:t>
            </a:r>
          </a:p>
          <a:p>
            <a:pPr>
              <a:lnSpc>
                <a:spcPts val="1200"/>
              </a:lnSpc>
              <a:spcBef>
                <a:spcPts val="0"/>
              </a:spcBef>
              <a:spcAft>
                <a:spcPts val="0"/>
              </a:spcAft>
            </a:pPr>
            <a:r>
              <a:rPr sz="950" b="0">
                <a:solidFill>
                  <a:srgbClr val="0B1F3A"/>
                </a:solidFill>
              </a:rPr>
              <a:t>feedback_comment</a:t>
            </a:r>
          </a:p>
        </p:txBody>
      </p:sp>
      <p:sp>
        <p:nvSpPr>
          <p:cNvPr id="47" name="Rectangle 46"/>
          <p:cNvSpPr/>
          <p:nvPr/>
        </p:nvSpPr>
        <p:spPr>
          <a:xfrm>
            <a:off x="4572000" y="1325880"/>
            <a:ext cx="2834640" cy="2560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rPr>
              <a:t>sa_riders</a:t>
            </a:r>
          </a:p>
        </p:txBody>
      </p:sp>
      <p:sp>
        <p:nvSpPr>
          <p:cNvPr id="48" name="Rectangle 47"/>
          <p:cNvSpPr/>
          <p:nvPr/>
        </p:nvSpPr>
        <p:spPr>
          <a:xfrm>
            <a:off x="4572000" y="1581912"/>
            <a:ext cx="2834640" cy="1310640"/>
          </a:xfrm>
          <a:prstGeom prst="rect">
            <a:avLst/>
          </a:prstGeom>
          <a:solidFill>
            <a:srgbClr val="FFFFFF"/>
          </a:solidFill>
          <a:ln w="952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45152" y="1627632"/>
            <a:ext cx="566928" cy="1219200"/>
          </a:xfrm>
          <a:prstGeom prst="rect">
            <a:avLst/>
          </a:prstGeom>
          <a:noFill/>
        </p:spPr>
        <p:txBody>
          <a:bodyPr wrap="none" lIns="0" tIns="0" rIns="0" bIns="0">
            <a:spAutoFit/>
          </a:bodyPr>
          <a:lstStyle/>
          <a:p>
            <a:pPr>
              <a:lnSpc>
                <a:spcPts val="1200"/>
              </a:lnSpc>
              <a:spcBef>
                <a:spcPts val="0"/>
              </a:spcBef>
              <a:spcAft>
                <a:spcPts val="0"/>
              </a:spcAft>
            </a:pPr>
            <a:r>
              <a:rPr sz="950" b="1">
                <a:solidFill>
                  <a:srgbClr val="B07A00"/>
                </a:solidFill>
              </a:rPr>
              <a:t>PK</a:t>
            </a: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p:txBody>
      </p:sp>
      <p:sp>
        <p:nvSpPr>
          <p:cNvPr id="50" name="TextBox 49"/>
          <p:cNvSpPr txBox="1"/>
          <p:nvPr/>
        </p:nvSpPr>
        <p:spPr>
          <a:xfrm>
            <a:off x="5230368" y="1627632"/>
            <a:ext cx="2121408" cy="1219200"/>
          </a:xfrm>
          <a:prstGeom prst="rect">
            <a:avLst/>
          </a:prstGeom>
          <a:noFill/>
        </p:spPr>
        <p:txBody>
          <a:bodyPr wrap="none" lIns="0" tIns="0" rIns="0" bIns="0">
            <a:spAutoFit/>
          </a:bodyPr>
          <a:lstStyle/>
          <a:p>
            <a:pPr>
              <a:lnSpc>
                <a:spcPts val="1200"/>
              </a:lnSpc>
              <a:spcBef>
                <a:spcPts val="0"/>
              </a:spcBef>
              <a:spcAft>
                <a:spcPts val="0"/>
              </a:spcAft>
            </a:pPr>
            <a:r>
              <a:rPr sz="950" b="1">
                <a:solidFill>
                  <a:srgbClr val="0B1F3A"/>
                </a:solidFill>
              </a:rPr>
              <a:t>rider_id</a:t>
            </a:r>
          </a:p>
          <a:p>
            <a:pPr>
              <a:lnSpc>
                <a:spcPts val="1200"/>
              </a:lnSpc>
              <a:spcBef>
                <a:spcPts val="0"/>
              </a:spcBef>
              <a:spcAft>
                <a:spcPts val="0"/>
              </a:spcAft>
            </a:pPr>
            <a:r>
              <a:rPr sz="950" b="0">
                <a:solidFill>
                  <a:srgbClr val="0B1F3A"/>
                </a:solidFill>
              </a:rPr>
              <a:t>first_name</a:t>
            </a:r>
          </a:p>
          <a:p>
            <a:pPr>
              <a:lnSpc>
                <a:spcPts val="1200"/>
              </a:lnSpc>
              <a:spcBef>
                <a:spcPts val="0"/>
              </a:spcBef>
              <a:spcAft>
                <a:spcPts val="0"/>
              </a:spcAft>
            </a:pPr>
            <a:r>
              <a:rPr sz="950" b="0">
                <a:solidFill>
                  <a:srgbClr val="0B1F3A"/>
                </a:solidFill>
              </a:rPr>
              <a:t>last_name</a:t>
            </a:r>
          </a:p>
          <a:p>
            <a:pPr>
              <a:lnSpc>
                <a:spcPts val="1200"/>
              </a:lnSpc>
              <a:spcBef>
                <a:spcPts val="0"/>
              </a:spcBef>
              <a:spcAft>
                <a:spcPts val="0"/>
              </a:spcAft>
            </a:pPr>
            <a:r>
              <a:rPr sz="950" b="0">
                <a:solidFill>
                  <a:srgbClr val="0B1F3A"/>
                </a:solidFill>
              </a:rPr>
              <a:t>mobile_number</a:t>
            </a:r>
          </a:p>
          <a:p>
            <a:pPr>
              <a:lnSpc>
                <a:spcPts val="1200"/>
              </a:lnSpc>
              <a:spcBef>
                <a:spcPts val="0"/>
              </a:spcBef>
              <a:spcAft>
                <a:spcPts val="0"/>
              </a:spcAft>
            </a:pPr>
            <a:r>
              <a:rPr sz="950" b="0">
                <a:solidFill>
                  <a:srgbClr val="0B1F3A"/>
                </a:solidFill>
              </a:rPr>
              <a:t>home_city</a:t>
            </a:r>
          </a:p>
          <a:p>
            <a:pPr>
              <a:lnSpc>
                <a:spcPts val="1200"/>
              </a:lnSpc>
              <a:spcBef>
                <a:spcPts val="0"/>
              </a:spcBef>
              <a:spcAft>
                <a:spcPts val="0"/>
              </a:spcAft>
            </a:pPr>
            <a:r>
              <a:rPr sz="950" b="0">
                <a:solidFill>
                  <a:srgbClr val="0B1F3A"/>
                </a:solidFill>
              </a:rPr>
              <a:t>province</a:t>
            </a:r>
          </a:p>
          <a:p>
            <a:pPr>
              <a:lnSpc>
                <a:spcPts val="1200"/>
              </a:lnSpc>
              <a:spcBef>
                <a:spcPts val="0"/>
              </a:spcBef>
              <a:spcAft>
                <a:spcPts val="0"/>
              </a:spcAft>
            </a:pPr>
            <a:r>
              <a:rPr sz="950" b="0">
                <a:solidFill>
                  <a:srgbClr val="0B1F3A"/>
                </a:solidFill>
              </a:rPr>
              <a:t>preferred_payment</a:t>
            </a:r>
          </a:p>
          <a:p>
            <a:pPr>
              <a:lnSpc>
                <a:spcPts val="1200"/>
              </a:lnSpc>
              <a:spcBef>
                <a:spcPts val="0"/>
              </a:spcBef>
              <a:spcAft>
                <a:spcPts val="0"/>
              </a:spcAft>
            </a:pPr>
            <a:r>
              <a:rPr sz="950" b="0">
                <a:solidFill>
                  <a:srgbClr val="0B1F3A"/>
                </a:solidFill>
              </a:rPr>
              <a:t>account_created_date</a:t>
            </a:r>
          </a:p>
        </p:txBody>
      </p:sp>
      <p:sp>
        <p:nvSpPr>
          <p:cNvPr id="51" name="Rectangle 50"/>
          <p:cNvSpPr/>
          <p:nvPr/>
        </p:nvSpPr>
        <p:spPr>
          <a:xfrm>
            <a:off x="8778240" y="1325880"/>
            <a:ext cx="2834640" cy="2560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rPr>
              <a:t>vehicles</a:t>
            </a:r>
          </a:p>
        </p:txBody>
      </p:sp>
      <p:sp>
        <p:nvSpPr>
          <p:cNvPr id="52" name="Rectangle 51"/>
          <p:cNvSpPr/>
          <p:nvPr/>
        </p:nvSpPr>
        <p:spPr>
          <a:xfrm>
            <a:off x="8778240" y="1581912"/>
            <a:ext cx="2834640" cy="1158240"/>
          </a:xfrm>
          <a:prstGeom prst="rect">
            <a:avLst/>
          </a:prstGeom>
          <a:solidFill>
            <a:srgbClr val="FFFFFF"/>
          </a:solidFill>
          <a:ln w="952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851392" y="1627632"/>
            <a:ext cx="566928" cy="1066799"/>
          </a:xfrm>
          <a:prstGeom prst="rect">
            <a:avLst/>
          </a:prstGeom>
          <a:noFill/>
        </p:spPr>
        <p:txBody>
          <a:bodyPr wrap="none" lIns="0" tIns="0" rIns="0" bIns="0">
            <a:spAutoFit/>
          </a:bodyPr>
          <a:lstStyle/>
          <a:p>
            <a:pPr>
              <a:lnSpc>
                <a:spcPts val="1200"/>
              </a:lnSpc>
              <a:spcBef>
                <a:spcPts val="0"/>
              </a:spcBef>
              <a:spcAft>
                <a:spcPts val="0"/>
              </a:spcAft>
            </a:pPr>
            <a:r>
              <a:rPr sz="950" b="1">
                <a:solidFill>
                  <a:srgbClr val="B07A00"/>
                </a:solidFill>
              </a:rPr>
              <a:t>PK</a:t>
            </a:r>
          </a:p>
          <a:p>
            <a:pPr>
              <a:lnSpc>
                <a:spcPts val="1200"/>
              </a:lnSpc>
              <a:spcBef>
                <a:spcPts val="0"/>
              </a:spcBef>
              <a:spcAft>
                <a:spcPts val="0"/>
              </a:spcAft>
            </a:pPr>
            <a:r>
              <a:rPr sz="950" b="1">
                <a:solidFill>
                  <a:srgbClr val="1FA39B"/>
                </a:solidFill>
              </a:rPr>
              <a:t>FK</a:t>
            </a:r>
          </a:p>
          <a:p>
            <a:pPr>
              <a:lnSpc>
                <a:spcPts val="1200"/>
              </a:lnSpc>
              <a:spcBef>
                <a:spcPts val="0"/>
              </a:spcBef>
              <a:spcAft>
                <a:spcPts val="0"/>
              </a:spcAft>
            </a:pPr>
            <a:endParaRPr sz="950" b="1">
              <a:solidFill>
                <a:srgbClr val="1FA39B"/>
              </a:solidFill>
            </a:endParaRPr>
          </a:p>
          <a:p>
            <a:pPr>
              <a:lnSpc>
                <a:spcPts val="1200"/>
              </a:lnSpc>
              <a:spcBef>
                <a:spcPts val="0"/>
              </a:spcBef>
              <a:spcAft>
                <a:spcPts val="0"/>
              </a:spcAft>
            </a:pPr>
            <a:endParaRPr sz="950" b="1">
              <a:solidFill>
                <a:srgbClr val="1FA39B"/>
              </a:solidFill>
            </a:endParaRPr>
          </a:p>
          <a:p>
            <a:pPr>
              <a:lnSpc>
                <a:spcPts val="1200"/>
              </a:lnSpc>
              <a:spcBef>
                <a:spcPts val="0"/>
              </a:spcBef>
              <a:spcAft>
                <a:spcPts val="0"/>
              </a:spcAft>
            </a:pPr>
            <a:endParaRPr sz="950" b="1">
              <a:solidFill>
                <a:srgbClr val="1FA39B"/>
              </a:solidFill>
            </a:endParaRPr>
          </a:p>
          <a:p>
            <a:pPr>
              <a:lnSpc>
                <a:spcPts val="1200"/>
              </a:lnSpc>
              <a:spcBef>
                <a:spcPts val="0"/>
              </a:spcBef>
              <a:spcAft>
                <a:spcPts val="0"/>
              </a:spcAft>
            </a:pPr>
            <a:r>
              <a:rPr sz="950" b="1">
                <a:solidFill>
                  <a:srgbClr val="7A4FD1"/>
                </a:solidFill>
              </a:rPr>
              <a:t>UQ</a:t>
            </a:r>
          </a:p>
          <a:p>
            <a:pPr>
              <a:lnSpc>
                <a:spcPts val="1200"/>
              </a:lnSpc>
              <a:spcBef>
                <a:spcPts val="0"/>
              </a:spcBef>
              <a:spcAft>
                <a:spcPts val="0"/>
              </a:spcAft>
            </a:pPr>
            <a:endParaRPr sz="950" b="1">
              <a:solidFill>
                <a:srgbClr val="7A4FD1"/>
              </a:solidFill>
            </a:endParaRPr>
          </a:p>
        </p:txBody>
      </p:sp>
      <p:sp>
        <p:nvSpPr>
          <p:cNvPr id="54" name="TextBox 53"/>
          <p:cNvSpPr txBox="1"/>
          <p:nvPr/>
        </p:nvSpPr>
        <p:spPr>
          <a:xfrm>
            <a:off x="9436608" y="1627632"/>
            <a:ext cx="2121408" cy="1066799"/>
          </a:xfrm>
          <a:prstGeom prst="rect">
            <a:avLst/>
          </a:prstGeom>
          <a:noFill/>
        </p:spPr>
        <p:txBody>
          <a:bodyPr wrap="none" lIns="0" tIns="0" rIns="0" bIns="0">
            <a:spAutoFit/>
          </a:bodyPr>
          <a:lstStyle/>
          <a:p>
            <a:pPr>
              <a:lnSpc>
                <a:spcPts val="1200"/>
              </a:lnSpc>
              <a:spcBef>
                <a:spcPts val="0"/>
              </a:spcBef>
              <a:spcAft>
                <a:spcPts val="0"/>
              </a:spcAft>
            </a:pPr>
            <a:r>
              <a:rPr sz="950" b="1">
                <a:solidFill>
                  <a:srgbClr val="0B1F3A"/>
                </a:solidFill>
              </a:rPr>
              <a:t>vehicle_id</a:t>
            </a:r>
          </a:p>
          <a:p>
            <a:pPr>
              <a:lnSpc>
                <a:spcPts val="1200"/>
              </a:lnSpc>
              <a:spcBef>
                <a:spcPts val="0"/>
              </a:spcBef>
              <a:spcAft>
                <a:spcPts val="0"/>
              </a:spcAft>
            </a:pPr>
            <a:r>
              <a:rPr sz="950" b="0">
                <a:solidFill>
                  <a:srgbClr val="0B1F3A"/>
                </a:solidFill>
              </a:rPr>
              <a:t>driver_id → sa_drivers</a:t>
            </a:r>
          </a:p>
          <a:p>
            <a:pPr>
              <a:lnSpc>
                <a:spcPts val="1200"/>
              </a:lnSpc>
              <a:spcBef>
                <a:spcPts val="0"/>
              </a:spcBef>
              <a:spcAft>
                <a:spcPts val="0"/>
              </a:spcAft>
            </a:pPr>
            <a:r>
              <a:rPr sz="950" b="0">
                <a:solidFill>
                  <a:srgbClr val="0B1F3A"/>
                </a:solidFill>
              </a:rPr>
              <a:t>make</a:t>
            </a:r>
          </a:p>
          <a:p>
            <a:pPr>
              <a:lnSpc>
                <a:spcPts val="1200"/>
              </a:lnSpc>
              <a:spcBef>
                <a:spcPts val="0"/>
              </a:spcBef>
              <a:spcAft>
                <a:spcPts val="0"/>
              </a:spcAft>
            </a:pPr>
            <a:r>
              <a:rPr sz="950" b="0">
                <a:solidFill>
                  <a:srgbClr val="0B1F3A"/>
                </a:solidFill>
              </a:rPr>
              <a:t>model</a:t>
            </a:r>
          </a:p>
          <a:p>
            <a:pPr>
              <a:lnSpc>
                <a:spcPts val="1200"/>
              </a:lnSpc>
              <a:spcBef>
                <a:spcPts val="0"/>
              </a:spcBef>
              <a:spcAft>
                <a:spcPts val="0"/>
              </a:spcAft>
            </a:pPr>
            <a:r>
              <a:rPr sz="950" b="0">
                <a:solidFill>
                  <a:srgbClr val="0B1F3A"/>
                </a:solidFill>
              </a:rPr>
              <a:t>year</a:t>
            </a:r>
          </a:p>
          <a:p>
            <a:pPr>
              <a:lnSpc>
                <a:spcPts val="1200"/>
              </a:lnSpc>
              <a:spcBef>
                <a:spcPts val="0"/>
              </a:spcBef>
              <a:spcAft>
                <a:spcPts val="0"/>
              </a:spcAft>
            </a:pPr>
            <a:r>
              <a:rPr sz="950" b="0">
                <a:solidFill>
                  <a:srgbClr val="0B1F3A"/>
                </a:solidFill>
              </a:rPr>
              <a:t>license_plate</a:t>
            </a:r>
          </a:p>
          <a:p>
            <a:pPr>
              <a:lnSpc>
                <a:spcPts val="1200"/>
              </a:lnSpc>
              <a:spcBef>
                <a:spcPts val="0"/>
              </a:spcBef>
              <a:spcAft>
                <a:spcPts val="0"/>
              </a:spcAft>
            </a:pPr>
            <a:r>
              <a:rPr sz="950" b="0">
                <a:solidFill>
                  <a:srgbClr val="0B1F3A"/>
                </a:solidFill>
              </a:rPr>
              <a:t>category_type</a:t>
            </a:r>
          </a:p>
        </p:txBody>
      </p:sp>
      <p:sp>
        <p:nvSpPr>
          <p:cNvPr id="55" name="Rectangle 54"/>
          <p:cNvSpPr/>
          <p:nvPr/>
        </p:nvSpPr>
        <p:spPr>
          <a:xfrm>
            <a:off x="548640" y="3154680"/>
            <a:ext cx="3200400" cy="2560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rPr>
              <a:t>trip_fare_breakdown</a:t>
            </a:r>
          </a:p>
        </p:txBody>
      </p:sp>
      <p:sp>
        <p:nvSpPr>
          <p:cNvPr id="56" name="Rectangle 55"/>
          <p:cNvSpPr/>
          <p:nvPr/>
        </p:nvSpPr>
        <p:spPr>
          <a:xfrm>
            <a:off x="548640" y="3410712"/>
            <a:ext cx="3200400" cy="1767840"/>
          </a:xfrm>
          <a:prstGeom prst="rect">
            <a:avLst/>
          </a:prstGeom>
          <a:solidFill>
            <a:srgbClr val="FFFFFF"/>
          </a:solidFill>
          <a:ln w="952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21792" y="3456432"/>
            <a:ext cx="566928" cy="1676400"/>
          </a:xfrm>
          <a:prstGeom prst="rect">
            <a:avLst/>
          </a:prstGeom>
          <a:noFill/>
        </p:spPr>
        <p:txBody>
          <a:bodyPr wrap="none" lIns="0" tIns="0" rIns="0" bIns="0">
            <a:spAutoFit/>
          </a:bodyPr>
          <a:lstStyle/>
          <a:p>
            <a:pPr>
              <a:lnSpc>
                <a:spcPts val="1200"/>
              </a:lnSpc>
              <a:spcBef>
                <a:spcPts val="0"/>
              </a:spcBef>
              <a:spcAft>
                <a:spcPts val="0"/>
              </a:spcAft>
            </a:pPr>
            <a:r>
              <a:rPr sz="950" b="1">
                <a:solidFill>
                  <a:srgbClr val="B07A00"/>
                </a:solidFill>
              </a:rPr>
              <a:t>PK, FK</a:t>
            </a: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p:txBody>
      </p:sp>
      <p:sp>
        <p:nvSpPr>
          <p:cNvPr id="58" name="TextBox 57"/>
          <p:cNvSpPr txBox="1"/>
          <p:nvPr/>
        </p:nvSpPr>
        <p:spPr>
          <a:xfrm>
            <a:off x="1207007" y="3456432"/>
            <a:ext cx="2487168" cy="1676400"/>
          </a:xfrm>
          <a:prstGeom prst="rect">
            <a:avLst/>
          </a:prstGeom>
          <a:noFill/>
        </p:spPr>
        <p:txBody>
          <a:bodyPr wrap="none" lIns="0" tIns="0" rIns="0" bIns="0">
            <a:spAutoFit/>
          </a:bodyPr>
          <a:lstStyle/>
          <a:p>
            <a:pPr>
              <a:lnSpc>
                <a:spcPts val="1200"/>
              </a:lnSpc>
              <a:spcBef>
                <a:spcPts val="0"/>
              </a:spcBef>
              <a:spcAft>
                <a:spcPts val="0"/>
              </a:spcAft>
            </a:pPr>
            <a:r>
              <a:rPr sz="950" b="1">
                <a:solidFill>
                  <a:srgbClr val="0B1F3A"/>
                </a:solidFill>
              </a:rPr>
              <a:t>trip_id → trip_headers</a:t>
            </a:r>
          </a:p>
          <a:p>
            <a:pPr>
              <a:lnSpc>
                <a:spcPts val="1200"/>
              </a:lnSpc>
              <a:spcBef>
                <a:spcPts val="0"/>
              </a:spcBef>
              <a:spcAft>
                <a:spcPts val="0"/>
              </a:spcAft>
            </a:pPr>
            <a:r>
              <a:rPr sz="950" b="0">
                <a:solidFill>
                  <a:srgbClr val="0B1F3A"/>
                </a:solidFill>
              </a:rPr>
              <a:t>distance_km</a:t>
            </a:r>
          </a:p>
          <a:p>
            <a:pPr>
              <a:lnSpc>
                <a:spcPts val="1200"/>
              </a:lnSpc>
              <a:spcBef>
                <a:spcPts val="0"/>
              </a:spcBef>
              <a:spcAft>
                <a:spcPts val="0"/>
              </a:spcAft>
            </a:pPr>
            <a:r>
              <a:rPr sz="950" b="0">
                <a:solidFill>
                  <a:srgbClr val="0B1F3A"/>
                </a:solidFill>
              </a:rPr>
              <a:t>duration_minutes</a:t>
            </a:r>
          </a:p>
          <a:p>
            <a:pPr>
              <a:lnSpc>
                <a:spcPts val="1200"/>
              </a:lnSpc>
              <a:spcBef>
                <a:spcPts val="0"/>
              </a:spcBef>
              <a:spcAft>
                <a:spcPts val="0"/>
              </a:spcAft>
            </a:pPr>
            <a:r>
              <a:rPr sz="950" b="0">
                <a:solidFill>
                  <a:srgbClr val="0B1F3A"/>
                </a:solidFill>
              </a:rPr>
              <a:t>surge_multiplier</a:t>
            </a:r>
          </a:p>
          <a:p>
            <a:pPr>
              <a:lnSpc>
                <a:spcPts val="1200"/>
              </a:lnSpc>
              <a:spcBef>
                <a:spcPts val="0"/>
              </a:spcBef>
              <a:spcAft>
                <a:spcPts val="0"/>
              </a:spcAft>
            </a:pPr>
            <a:r>
              <a:rPr sz="950" b="0">
                <a:solidFill>
                  <a:srgbClr val="0B1F3A"/>
                </a:solidFill>
              </a:rPr>
              <a:t>base_fare_zar</a:t>
            </a:r>
          </a:p>
          <a:p>
            <a:pPr>
              <a:lnSpc>
                <a:spcPts val="1200"/>
              </a:lnSpc>
              <a:spcBef>
                <a:spcPts val="0"/>
              </a:spcBef>
              <a:spcAft>
                <a:spcPts val="0"/>
              </a:spcAft>
            </a:pPr>
            <a:r>
              <a:rPr sz="950" b="0">
                <a:solidFill>
                  <a:srgbClr val="0B1F3A"/>
                </a:solidFill>
              </a:rPr>
              <a:t>tolls_zar</a:t>
            </a:r>
          </a:p>
          <a:p>
            <a:pPr>
              <a:lnSpc>
                <a:spcPts val="1200"/>
              </a:lnSpc>
              <a:spcBef>
                <a:spcPts val="0"/>
              </a:spcBef>
              <a:spcAft>
                <a:spcPts val="0"/>
              </a:spcAft>
            </a:pPr>
            <a:r>
              <a:rPr sz="950" b="0">
                <a:solidFill>
                  <a:srgbClr val="0B1F3A"/>
                </a:solidFill>
              </a:rPr>
              <a:t>tip_zar</a:t>
            </a:r>
          </a:p>
          <a:p>
            <a:pPr>
              <a:lnSpc>
                <a:spcPts val="1200"/>
              </a:lnSpc>
              <a:spcBef>
                <a:spcPts val="0"/>
              </a:spcBef>
              <a:spcAft>
                <a:spcPts val="0"/>
              </a:spcAft>
            </a:pPr>
            <a:r>
              <a:rPr sz="950" b="0">
                <a:solidFill>
                  <a:srgbClr val="0B1F3A"/>
                </a:solidFill>
              </a:rPr>
              <a:t>total_fare_zar</a:t>
            </a:r>
          </a:p>
          <a:p>
            <a:pPr>
              <a:lnSpc>
                <a:spcPts val="1200"/>
              </a:lnSpc>
              <a:spcBef>
                <a:spcPts val="0"/>
              </a:spcBef>
              <a:spcAft>
                <a:spcPts val="0"/>
              </a:spcAft>
            </a:pPr>
            <a:r>
              <a:rPr sz="950" b="0">
                <a:solidFill>
                  <a:srgbClr val="0B1F3A"/>
                </a:solidFill>
              </a:rPr>
              <a:t>platform_commission_zar</a:t>
            </a:r>
          </a:p>
          <a:p>
            <a:pPr>
              <a:lnSpc>
                <a:spcPts val="1200"/>
              </a:lnSpc>
              <a:spcBef>
                <a:spcPts val="0"/>
              </a:spcBef>
              <a:spcAft>
                <a:spcPts val="0"/>
              </a:spcAft>
            </a:pPr>
            <a:r>
              <a:rPr sz="950" b="0">
                <a:solidFill>
                  <a:srgbClr val="0B1F3A"/>
                </a:solidFill>
              </a:rPr>
              <a:t>driver_payout_zar</a:t>
            </a:r>
          </a:p>
          <a:p>
            <a:pPr>
              <a:lnSpc>
                <a:spcPts val="1200"/>
              </a:lnSpc>
              <a:spcBef>
                <a:spcPts val="0"/>
              </a:spcBef>
              <a:spcAft>
                <a:spcPts val="0"/>
              </a:spcAft>
            </a:pPr>
            <a:r>
              <a:rPr sz="950" b="0">
                <a:solidFill>
                  <a:srgbClr val="0B1F3A"/>
                </a:solidFill>
              </a:rPr>
              <a:t>payment_method</a:t>
            </a:r>
          </a:p>
        </p:txBody>
      </p:sp>
      <p:sp>
        <p:nvSpPr>
          <p:cNvPr id="59" name="Rectangle 58"/>
          <p:cNvSpPr/>
          <p:nvPr/>
        </p:nvSpPr>
        <p:spPr>
          <a:xfrm>
            <a:off x="4572000" y="3154680"/>
            <a:ext cx="2834640" cy="256032"/>
          </a:xfrm>
          <a:prstGeom prst="rect">
            <a:avLst/>
          </a:prstGeom>
          <a:solidFill>
            <a:srgbClr val="1FA39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rPr>
              <a:t>trip_headers</a:t>
            </a:r>
          </a:p>
        </p:txBody>
      </p:sp>
      <p:sp>
        <p:nvSpPr>
          <p:cNvPr id="60" name="Rectangle 59"/>
          <p:cNvSpPr/>
          <p:nvPr/>
        </p:nvSpPr>
        <p:spPr>
          <a:xfrm>
            <a:off x="4572000" y="3410712"/>
            <a:ext cx="2834640" cy="1310640"/>
          </a:xfrm>
          <a:prstGeom prst="rect">
            <a:avLst/>
          </a:prstGeom>
          <a:solidFill>
            <a:srgbClr val="FFFFFF"/>
          </a:solidFill>
          <a:ln w="952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645152" y="3456432"/>
            <a:ext cx="566928" cy="1219200"/>
          </a:xfrm>
          <a:prstGeom prst="rect">
            <a:avLst/>
          </a:prstGeom>
          <a:noFill/>
        </p:spPr>
        <p:txBody>
          <a:bodyPr wrap="none" lIns="0" tIns="0" rIns="0" bIns="0">
            <a:spAutoFit/>
          </a:bodyPr>
          <a:lstStyle/>
          <a:p>
            <a:pPr>
              <a:lnSpc>
                <a:spcPts val="1200"/>
              </a:lnSpc>
              <a:spcBef>
                <a:spcPts val="0"/>
              </a:spcBef>
              <a:spcAft>
                <a:spcPts val="0"/>
              </a:spcAft>
            </a:pPr>
            <a:r>
              <a:rPr sz="950" b="1">
                <a:solidFill>
                  <a:srgbClr val="B07A00"/>
                </a:solidFill>
              </a:rPr>
              <a:t>PK</a:t>
            </a:r>
          </a:p>
          <a:p>
            <a:pPr>
              <a:lnSpc>
                <a:spcPts val="1200"/>
              </a:lnSpc>
              <a:spcBef>
                <a:spcPts val="0"/>
              </a:spcBef>
              <a:spcAft>
                <a:spcPts val="0"/>
              </a:spcAft>
            </a:pPr>
            <a:r>
              <a:rPr sz="950" b="1">
                <a:solidFill>
                  <a:srgbClr val="1FA39B"/>
                </a:solidFill>
              </a:rPr>
              <a:t>FK</a:t>
            </a:r>
          </a:p>
          <a:p>
            <a:pPr>
              <a:lnSpc>
                <a:spcPts val="1200"/>
              </a:lnSpc>
              <a:spcBef>
                <a:spcPts val="0"/>
              </a:spcBef>
              <a:spcAft>
                <a:spcPts val="0"/>
              </a:spcAft>
            </a:pPr>
            <a:r>
              <a:rPr sz="950" b="1">
                <a:solidFill>
                  <a:srgbClr val="1FA39B"/>
                </a:solidFill>
              </a:rPr>
              <a:t>FK</a:t>
            </a:r>
          </a:p>
          <a:p>
            <a:pPr>
              <a:lnSpc>
                <a:spcPts val="1200"/>
              </a:lnSpc>
              <a:spcBef>
                <a:spcPts val="0"/>
              </a:spcBef>
              <a:spcAft>
                <a:spcPts val="0"/>
              </a:spcAft>
            </a:pPr>
            <a:r>
              <a:rPr sz="950" b="1">
                <a:solidFill>
                  <a:srgbClr val="1FA39B"/>
                </a:solidFill>
              </a:rPr>
              <a:t>FK</a:t>
            </a:r>
          </a:p>
          <a:p>
            <a:pPr>
              <a:lnSpc>
                <a:spcPts val="1200"/>
              </a:lnSpc>
              <a:spcBef>
                <a:spcPts val="0"/>
              </a:spcBef>
              <a:spcAft>
                <a:spcPts val="0"/>
              </a:spcAft>
            </a:pPr>
            <a:endParaRPr sz="950" b="1">
              <a:solidFill>
                <a:srgbClr val="1FA39B"/>
              </a:solidFill>
            </a:endParaRPr>
          </a:p>
          <a:p>
            <a:pPr>
              <a:lnSpc>
                <a:spcPts val="1200"/>
              </a:lnSpc>
              <a:spcBef>
                <a:spcPts val="0"/>
              </a:spcBef>
              <a:spcAft>
                <a:spcPts val="0"/>
              </a:spcAft>
            </a:pPr>
            <a:endParaRPr sz="950" b="1">
              <a:solidFill>
                <a:srgbClr val="1FA39B"/>
              </a:solidFill>
            </a:endParaRPr>
          </a:p>
          <a:p>
            <a:pPr>
              <a:lnSpc>
                <a:spcPts val="1200"/>
              </a:lnSpc>
              <a:spcBef>
                <a:spcPts val="0"/>
              </a:spcBef>
              <a:spcAft>
                <a:spcPts val="0"/>
              </a:spcAft>
            </a:pPr>
            <a:endParaRPr sz="950" b="1">
              <a:solidFill>
                <a:srgbClr val="1FA39B"/>
              </a:solidFill>
            </a:endParaRPr>
          </a:p>
          <a:p>
            <a:pPr>
              <a:lnSpc>
                <a:spcPts val="1200"/>
              </a:lnSpc>
              <a:spcBef>
                <a:spcPts val="0"/>
              </a:spcBef>
              <a:spcAft>
                <a:spcPts val="0"/>
              </a:spcAft>
            </a:pPr>
            <a:endParaRPr sz="950" b="1">
              <a:solidFill>
                <a:srgbClr val="1FA39B"/>
              </a:solidFill>
            </a:endParaRPr>
          </a:p>
        </p:txBody>
      </p:sp>
      <p:sp>
        <p:nvSpPr>
          <p:cNvPr id="62" name="TextBox 61"/>
          <p:cNvSpPr txBox="1"/>
          <p:nvPr/>
        </p:nvSpPr>
        <p:spPr>
          <a:xfrm>
            <a:off x="5230368" y="3456432"/>
            <a:ext cx="2121408" cy="1219200"/>
          </a:xfrm>
          <a:prstGeom prst="rect">
            <a:avLst/>
          </a:prstGeom>
          <a:noFill/>
        </p:spPr>
        <p:txBody>
          <a:bodyPr wrap="none" lIns="0" tIns="0" rIns="0" bIns="0">
            <a:spAutoFit/>
          </a:bodyPr>
          <a:lstStyle/>
          <a:p>
            <a:pPr>
              <a:lnSpc>
                <a:spcPts val="1200"/>
              </a:lnSpc>
              <a:spcBef>
                <a:spcPts val="0"/>
              </a:spcBef>
              <a:spcAft>
                <a:spcPts val="0"/>
              </a:spcAft>
            </a:pPr>
            <a:r>
              <a:rPr sz="950" b="1">
                <a:solidFill>
                  <a:srgbClr val="0B1F3A"/>
                </a:solidFill>
              </a:rPr>
              <a:t>trip_id</a:t>
            </a:r>
          </a:p>
          <a:p>
            <a:pPr>
              <a:lnSpc>
                <a:spcPts val="1200"/>
              </a:lnSpc>
              <a:spcBef>
                <a:spcPts val="0"/>
              </a:spcBef>
              <a:spcAft>
                <a:spcPts val="0"/>
              </a:spcAft>
            </a:pPr>
            <a:r>
              <a:rPr sz="950" b="0">
                <a:solidFill>
                  <a:srgbClr val="0B1F3A"/>
                </a:solidFill>
              </a:rPr>
              <a:t>rider_id → sa_riders</a:t>
            </a:r>
          </a:p>
          <a:p>
            <a:pPr>
              <a:lnSpc>
                <a:spcPts val="1200"/>
              </a:lnSpc>
              <a:spcBef>
                <a:spcPts val="0"/>
              </a:spcBef>
              <a:spcAft>
                <a:spcPts val="0"/>
              </a:spcAft>
            </a:pPr>
            <a:r>
              <a:rPr sz="950" b="0">
                <a:solidFill>
                  <a:srgbClr val="0B1F3A"/>
                </a:solidFill>
              </a:rPr>
              <a:t>driver_id → sa_drivers</a:t>
            </a:r>
          </a:p>
          <a:p>
            <a:pPr>
              <a:lnSpc>
                <a:spcPts val="1200"/>
              </a:lnSpc>
              <a:spcBef>
                <a:spcPts val="0"/>
              </a:spcBef>
              <a:spcAft>
                <a:spcPts val="0"/>
              </a:spcAft>
            </a:pPr>
            <a:r>
              <a:rPr sz="950" b="0">
                <a:solidFill>
                  <a:srgbClr val="0B1F3A"/>
                </a:solidFill>
              </a:rPr>
              <a:t>zone_id → pricing_surge_zones</a:t>
            </a:r>
          </a:p>
          <a:p>
            <a:pPr>
              <a:lnSpc>
                <a:spcPts val="1200"/>
              </a:lnSpc>
              <a:spcBef>
                <a:spcPts val="0"/>
              </a:spcBef>
              <a:spcAft>
                <a:spcPts val="0"/>
              </a:spcAft>
            </a:pPr>
            <a:r>
              <a:rPr sz="950" b="0">
                <a:solidFill>
                  <a:srgbClr val="0B1F3A"/>
                </a:solidFill>
              </a:rPr>
              <a:t>ride_category</a:t>
            </a:r>
          </a:p>
          <a:p>
            <a:pPr>
              <a:lnSpc>
                <a:spcPts val="1200"/>
              </a:lnSpc>
              <a:spcBef>
                <a:spcPts val="0"/>
              </a:spcBef>
              <a:spcAft>
                <a:spcPts val="0"/>
              </a:spcAft>
            </a:pPr>
            <a:r>
              <a:rPr sz="950" b="0">
                <a:solidFill>
                  <a:srgbClr val="0B1F3A"/>
                </a:solidFill>
              </a:rPr>
              <a:t>request_timestamp</a:t>
            </a:r>
          </a:p>
          <a:p>
            <a:pPr>
              <a:lnSpc>
                <a:spcPts val="1200"/>
              </a:lnSpc>
              <a:spcBef>
                <a:spcPts val="0"/>
              </a:spcBef>
              <a:spcAft>
                <a:spcPts val="0"/>
              </a:spcAft>
            </a:pPr>
            <a:r>
              <a:rPr sz="950" b="0">
                <a:solidFill>
                  <a:srgbClr val="0B1F3A"/>
                </a:solidFill>
              </a:rPr>
              <a:t>trip_status</a:t>
            </a:r>
          </a:p>
          <a:p>
            <a:pPr>
              <a:lnSpc>
                <a:spcPts val="1200"/>
              </a:lnSpc>
              <a:spcBef>
                <a:spcPts val="0"/>
              </a:spcBef>
              <a:spcAft>
                <a:spcPts val="0"/>
              </a:spcAft>
            </a:pPr>
            <a:r>
              <a:rPr sz="950" b="0">
                <a:solidFill>
                  <a:srgbClr val="0B1F3A"/>
                </a:solidFill>
              </a:rPr>
              <a:t>cancellation_reason</a:t>
            </a:r>
          </a:p>
        </p:txBody>
      </p:sp>
      <p:sp>
        <p:nvSpPr>
          <p:cNvPr id="63" name="Rectangle 62"/>
          <p:cNvSpPr/>
          <p:nvPr/>
        </p:nvSpPr>
        <p:spPr>
          <a:xfrm>
            <a:off x="8778240" y="3154680"/>
            <a:ext cx="2834640" cy="2560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rPr>
              <a:t>sa_drivers</a:t>
            </a:r>
          </a:p>
        </p:txBody>
      </p:sp>
      <p:sp>
        <p:nvSpPr>
          <p:cNvPr id="64" name="Rectangle 63"/>
          <p:cNvSpPr/>
          <p:nvPr/>
        </p:nvSpPr>
        <p:spPr>
          <a:xfrm>
            <a:off x="8778240" y="3410712"/>
            <a:ext cx="2834640" cy="1463040"/>
          </a:xfrm>
          <a:prstGeom prst="rect">
            <a:avLst/>
          </a:prstGeom>
          <a:solidFill>
            <a:srgbClr val="FFFFFF"/>
          </a:solidFill>
          <a:ln w="952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851392" y="3456432"/>
            <a:ext cx="566928" cy="1371600"/>
          </a:xfrm>
          <a:prstGeom prst="rect">
            <a:avLst/>
          </a:prstGeom>
          <a:noFill/>
        </p:spPr>
        <p:txBody>
          <a:bodyPr wrap="none" lIns="0" tIns="0" rIns="0" bIns="0">
            <a:spAutoFit/>
          </a:bodyPr>
          <a:lstStyle/>
          <a:p>
            <a:pPr>
              <a:lnSpc>
                <a:spcPts val="1200"/>
              </a:lnSpc>
              <a:spcBef>
                <a:spcPts val="0"/>
              </a:spcBef>
              <a:spcAft>
                <a:spcPts val="0"/>
              </a:spcAft>
            </a:pPr>
            <a:r>
              <a:rPr sz="950" b="1">
                <a:solidFill>
                  <a:srgbClr val="B07A00"/>
                </a:solidFill>
              </a:rPr>
              <a:t>PK</a:t>
            </a: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p:txBody>
      </p:sp>
      <p:sp>
        <p:nvSpPr>
          <p:cNvPr id="66" name="TextBox 65"/>
          <p:cNvSpPr txBox="1"/>
          <p:nvPr/>
        </p:nvSpPr>
        <p:spPr>
          <a:xfrm>
            <a:off x="9436608" y="3456432"/>
            <a:ext cx="2121408" cy="1371600"/>
          </a:xfrm>
          <a:prstGeom prst="rect">
            <a:avLst/>
          </a:prstGeom>
          <a:noFill/>
        </p:spPr>
        <p:txBody>
          <a:bodyPr wrap="none" lIns="0" tIns="0" rIns="0" bIns="0">
            <a:spAutoFit/>
          </a:bodyPr>
          <a:lstStyle/>
          <a:p>
            <a:pPr>
              <a:lnSpc>
                <a:spcPts val="1200"/>
              </a:lnSpc>
              <a:spcBef>
                <a:spcPts val="0"/>
              </a:spcBef>
              <a:spcAft>
                <a:spcPts val="0"/>
              </a:spcAft>
            </a:pPr>
            <a:r>
              <a:rPr sz="950" b="1">
                <a:solidFill>
                  <a:srgbClr val="0B1F3A"/>
                </a:solidFill>
              </a:rPr>
              <a:t>driver_id</a:t>
            </a:r>
          </a:p>
          <a:p>
            <a:pPr>
              <a:lnSpc>
                <a:spcPts val="1200"/>
              </a:lnSpc>
              <a:spcBef>
                <a:spcPts val="0"/>
              </a:spcBef>
              <a:spcAft>
                <a:spcPts val="0"/>
              </a:spcAft>
            </a:pPr>
            <a:r>
              <a:rPr sz="950" b="0">
                <a:solidFill>
                  <a:srgbClr val="0B1F3A"/>
                </a:solidFill>
              </a:rPr>
              <a:t>first_name</a:t>
            </a:r>
          </a:p>
          <a:p>
            <a:pPr>
              <a:lnSpc>
                <a:spcPts val="1200"/>
              </a:lnSpc>
              <a:spcBef>
                <a:spcPts val="0"/>
              </a:spcBef>
              <a:spcAft>
                <a:spcPts val="0"/>
              </a:spcAft>
            </a:pPr>
            <a:r>
              <a:rPr sz="950" b="0">
                <a:solidFill>
                  <a:srgbClr val="0B1F3A"/>
                </a:solidFill>
              </a:rPr>
              <a:t>last_name</a:t>
            </a:r>
          </a:p>
          <a:p>
            <a:pPr>
              <a:lnSpc>
                <a:spcPts val="1200"/>
              </a:lnSpc>
              <a:spcBef>
                <a:spcPts val="0"/>
              </a:spcBef>
              <a:spcAft>
                <a:spcPts val="0"/>
              </a:spcAft>
            </a:pPr>
            <a:r>
              <a:rPr sz="950" b="0">
                <a:solidFill>
                  <a:srgbClr val="0B1F3A"/>
                </a:solidFill>
              </a:rPr>
              <a:t>operating_city</a:t>
            </a:r>
          </a:p>
          <a:p>
            <a:pPr>
              <a:lnSpc>
                <a:spcPts val="1200"/>
              </a:lnSpc>
              <a:spcBef>
                <a:spcPts val="0"/>
              </a:spcBef>
              <a:spcAft>
                <a:spcPts val="0"/>
              </a:spcAft>
            </a:pPr>
            <a:r>
              <a:rPr sz="950" b="0">
                <a:solidFill>
                  <a:srgbClr val="0B1F3A"/>
                </a:solidFill>
              </a:rPr>
              <a:t>platform_affiliation</a:t>
            </a:r>
          </a:p>
          <a:p>
            <a:pPr>
              <a:lnSpc>
                <a:spcPts val="1200"/>
              </a:lnSpc>
              <a:spcBef>
                <a:spcPts val="0"/>
              </a:spcBef>
              <a:spcAft>
                <a:spcPts val="0"/>
              </a:spcAft>
            </a:pPr>
            <a:r>
              <a:rPr sz="950" b="0">
                <a:solidFill>
                  <a:srgbClr val="0B1F3A"/>
                </a:solidFill>
              </a:rPr>
              <a:t>platform_commission_pct</a:t>
            </a:r>
          </a:p>
          <a:p>
            <a:pPr>
              <a:lnSpc>
                <a:spcPts val="1200"/>
              </a:lnSpc>
              <a:spcBef>
                <a:spcPts val="0"/>
              </a:spcBef>
              <a:spcAft>
                <a:spcPts val="0"/>
              </a:spcAft>
            </a:pPr>
            <a:r>
              <a:rPr sz="950" b="0">
                <a:solidFill>
                  <a:srgbClr val="0B1F3A"/>
                </a:solidFill>
              </a:rPr>
              <a:t>driver_rating</a:t>
            </a:r>
          </a:p>
          <a:p>
            <a:pPr>
              <a:lnSpc>
                <a:spcPts val="1200"/>
              </a:lnSpc>
              <a:spcBef>
                <a:spcPts val="0"/>
              </a:spcBef>
              <a:spcAft>
                <a:spcPts val="0"/>
              </a:spcAft>
            </a:pPr>
            <a:r>
              <a:rPr sz="950" b="0">
                <a:solidFill>
                  <a:srgbClr val="0B1F3A"/>
                </a:solidFill>
              </a:rPr>
              <a:t>total_lifetime_trips</a:t>
            </a:r>
          </a:p>
          <a:p>
            <a:pPr>
              <a:lnSpc>
                <a:spcPts val="1200"/>
              </a:lnSpc>
              <a:spcBef>
                <a:spcPts val="0"/>
              </a:spcBef>
              <a:spcAft>
                <a:spcPts val="0"/>
              </a:spcAft>
            </a:pPr>
            <a:r>
              <a:rPr sz="950" b="0">
                <a:solidFill>
                  <a:srgbClr val="0B1F3A"/>
                </a:solidFill>
              </a:rPr>
              <a:t>onboarding_date</a:t>
            </a:r>
          </a:p>
        </p:txBody>
      </p:sp>
      <p:sp>
        <p:nvSpPr>
          <p:cNvPr id="67" name="Rectangle 66"/>
          <p:cNvSpPr/>
          <p:nvPr/>
        </p:nvSpPr>
        <p:spPr>
          <a:xfrm>
            <a:off x="4572000" y="5257800"/>
            <a:ext cx="2834640" cy="2560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100" b="1">
                <a:solidFill>
                  <a:srgbClr val="FFFFFF"/>
                </a:solidFill>
              </a:rPr>
              <a:t>pricing_surge_zones</a:t>
            </a:r>
          </a:p>
        </p:txBody>
      </p:sp>
      <p:sp>
        <p:nvSpPr>
          <p:cNvPr id="68" name="Rectangle 67"/>
          <p:cNvSpPr/>
          <p:nvPr/>
        </p:nvSpPr>
        <p:spPr>
          <a:xfrm>
            <a:off x="4572000" y="5513832"/>
            <a:ext cx="2834640" cy="1005840"/>
          </a:xfrm>
          <a:prstGeom prst="rect">
            <a:avLst/>
          </a:prstGeom>
          <a:solidFill>
            <a:srgbClr val="FFFFFF"/>
          </a:solidFill>
          <a:ln w="952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645152" y="5559552"/>
            <a:ext cx="566928" cy="914400"/>
          </a:xfrm>
          <a:prstGeom prst="rect">
            <a:avLst/>
          </a:prstGeom>
          <a:noFill/>
        </p:spPr>
        <p:txBody>
          <a:bodyPr wrap="none" lIns="0" tIns="0" rIns="0" bIns="0">
            <a:spAutoFit/>
          </a:bodyPr>
          <a:lstStyle/>
          <a:p>
            <a:pPr>
              <a:lnSpc>
                <a:spcPts val="1200"/>
              </a:lnSpc>
              <a:spcBef>
                <a:spcPts val="0"/>
              </a:spcBef>
              <a:spcAft>
                <a:spcPts val="0"/>
              </a:spcAft>
            </a:pPr>
            <a:r>
              <a:rPr sz="950" b="1">
                <a:solidFill>
                  <a:srgbClr val="B07A00"/>
                </a:solidFill>
              </a:rPr>
              <a:t>PK</a:t>
            </a: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a:p>
            <a:pPr>
              <a:lnSpc>
                <a:spcPts val="1200"/>
              </a:lnSpc>
              <a:spcBef>
                <a:spcPts val="0"/>
              </a:spcBef>
              <a:spcAft>
                <a:spcPts val="0"/>
              </a:spcAft>
            </a:pPr>
            <a:endParaRPr sz="950" b="1">
              <a:solidFill>
                <a:srgbClr val="B07A00"/>
              </a:solidFill>
            </a:endParaRPr>
          </a:p>
        </p:txBody>
      </p:sp>
      <p:sp>
        <p:nvSpPr>
          <p:cNvPr id="70" name="TextBox 69"/>
          <p:cNvSpPr txBox="1"/>
          <p:nvPr/>
        </p:nvSpPr>
        <p:spPr>
          <a:xfrm>
            <a:off x="5230368" y="5559552"/>
            <a:ext cx="2121408" cy="914400"/>
          </a:xfrm>
          <a:prstGeom prst="rect">
            <a:avLst/>
          </a:prstGeom>
          <a:noFill/>
        </p:spPr>
        <p:txBody>
          <a:bodyPr wrap="none" lIns="0" tIns="0" rIns="0" bIns="0">
            <a:spAutoFit/>
          </a:bodyPr>
          <a:lstStyle/>
          <a:p>
            <a:pPr>
              <a:lnSpc>
                <a:spcPts val="1200"/>
              </a:lnSpc>
              <a:spcBef>
                <a:spcPts val="0"/>
              </a:spcBef>
              <a:spcAft>
                <a:spcPts val="0"/>
              </a:spcAft>
            </a:pPr>
            <a:r>
              <a:rPr sz="950" b="1">
                <a:solidFill>
                  <a:srgbClr val="0B1F3A"/>
                </a:solidFill>
              </a:rPr>
              <a:t>zone_id</a:t>
            </a:r>
          </a:p>
          <a:p>
            <a:pPr>
              <a:lnSpc>
                <a:spcPts val="1200"/>
              </a:lnSpc>
              <a:spcBef>
                <a:spcPts val="0"/>
              </a:spcBef>
              <a:spcAft>
                <a:spcPts val="0"/>
              </a:spcAft>
            </a:pPr>
            <a:r>
              <a:rPr sz="950" b="0">
                <a:solidFill>
                  <a:srgbClr val="0B1F3A"/>
                </a:solidFill>
              </a:rPr>
              <a:t>zone_name</a:t>
            </a:r>
          </a:p>
          <a:p>
            <a:pPr>
              <a:lnSpc>
                <a:spcPts val="1200"/>
              </a:lnSpc>
              <a:spcBef>
                <a:spcPts val="0"/>
              </a:spcBef>
              <a:spcAft>
                <a:spcPts val="0"/>
              </a:spcAft>
            </a:pPr>
            <a:r>
              <a:rPr sz="950" b="0">
                <a:solidFill>
                  <a:srgbClr val="0B1F3A"/>
                </a:solidFill>
              </a:rPr>
              <a:t>city</a:t>
            </a:r>
          </a:p>
          <a:p>
            <a:pPr>
              <a:lnSpc>
                <a:spcPts val="1200"/>
              </a:lnSpc>
              <a:spcBef>
                <a:spcPts val="0"/>
              </a:spcBef>
              <a:spcAft>
                <a:spcPts val="0"/>
              </a:spcAft>
            </a:pPr>
            <a:r>
              <a:rPr sz="950" b="0">
                <a:solidFill>
                  <a:srgbClr val="0B1F3A"/>
                </a:solidFill>
              </a:rPr>
              <a:t>base_fare_zar</a:t>
            </a:r>
          </a:p>
          <a:p>
            <a:pPr>
              <a:lnSpc>
                <a:spcPts val="1200"/>
              </a:lnSpc>
              <a:spcBef>
                <a:spcPts val="0"/>
              </a:spcBef>
              <a:spcAft>
                <a:spcPts val="0"/>
              </a:spcAft>
            </a:pPr>
            <a:r>
              <a:rPr sz="950" b="0">
                <a:solidFill>
                  <a:srgbClr val="0B1F3A"/>
                </a:solidFill>
              </a:rPr>
              <a:t>per_km_rate_zar</a:t>
            </a:r>
          </a:p>
          <a:p>
            <a:pPr>
              <a:lnSpc>
                <a:spcPts val="1200"/>
              </a:lnSpc>
              <a:spcBef>
                <a:spcPts val="0"/>
              </a:spcBef>
              <a:spcAft>
                <a:spcPts val="0"/>
              </a:spcAft>
            </a:pPr>
            <a:r>
              <a:rPr sz="950" b="0">
                <a:solidFill>
                  <a:srgbClr val="0B1F3A"/>
                </a:solidFill>
              </a:rPr>
              <a:t>per_min_rate_zar</a:t>
            </a:r>
          </a:p>
        </p:txBody>
      </p:sp>
      <p:cxnSp>
        <p:nvCxnSpPr>
          <p:cNvPr id="71" name="Connector 70"/>
          <p:cNvCxnSpPr/>
          <p:nvPr/>
        </p:nvCxnSpPr>
        <p:spPr>
          <a:xfrm>
            <a:off x="5989320" y="2892552"/>
            <a:ext cx="0" cy="262128"/>
          </a:xfrm>
          <a:prstGeom prst="line">
            <a:avLst/>
          </a:prstGeom>
          <a:ln w="28575">
            <a:solidFill>
              <a:srgbClr val="F2B705"/>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760720" y="2874264"/>
            <a:ext cx="274320" cy="201168"/>
          </a:xfrm>
          <a:prstGeom prst="rect">
            <a:avLst/>
          </a:prstGeom>
          <a:noFill/>
        </p:spPr>
        <p:txBody>
          <a:bodyPr wrap="none" lIns="0" tIns="0" rIns="0" bIns="0">
            <a:spAutoFit/>
          </a:bodyPr>
          <a:lstStyle/>
          <a:p>
            <a:r>
              <a:rPr sz="1100" b="1">
                <a:solidFill>
                  <a:srgbClr val="0B1F3A"/>
                </a:solidFill>
              </a:rPr>
              <a:t>1</a:t>
            </a:r>
          </a:p>
        </p:txBody>
      </p:sp>
      <p:sp>
        <p:nvSpPr>
          <p:cNvPr id="73" name="TextBox 72"/>
          <p:cNvSpPr txBox="1"/>
          <p:nvPr/>
        </p:nvSpPr>
        <p:spPr>
          <a:xfrm>
            <a:off x="5760720" y="2971800"/>
            <a:ext cx="274320" cy="201168"/>
          </a:xfrm>
          <a:prstGeom prst="rect">
            <a:avLst/>
          </a:prstGeom>
          <a:noFill/>
        </p:spPr>
        <p:txBody>
          <a:bodyPr wrap="none" lIns="0" tIns="0" rIns="0" bIns="0">
            <a:spAutoFit/>
          </a:bodyPr>
          <a:lstStyle/>
          <a:p>
            <a:r>
              <a:rPr sz="1100" b="1">
                <a:solidFill>
                  <a:srgbClr val="0B1F3A"/>
                </a:solidFill>
              </a:rPr>
              <a:t>N</a:t>
            </a:r>
          </a:p>
        </p:txBody>
      </p:sp>
      <p:cxnSp>
        <p:nvCxnSpPr>
          <p:cNvPr id="74" name="Connector 73"/>
          <p:cNvCxnSpPr/>
          <p:nvPr/>
        </p:nvCxnSpPr>
        <p:spPr>
          <a:xfrm>
            <a:off x="5989320" y="4721352"/>
            <a:ext cx="0" cy="536448"/>
          </a:xfrm>
          <a:prstGeom prst="line">
            <a:avLst/>
          </a:prstGeom>
          <a:ln w="28575">
            <a:solidFill>
              <a:srgbClr val="F2B705"/>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760720" y="4721352"/>
            <a:ext cx="274320" cy="201168"/>
          </a:xfrm>
          <a:prstGeom prst="rect">
            <a:avLst/>
          </a:prstGeom>
          <a:noFill/>
        </p:spPr>
        <p:txBody>
          <a:bodyPr wrap="none" lIns="0" tIns="0" rIns="0" bIns="0">
            <a:spAutoFit/>
          </a:bodyPr>
          <a:lstStyle/>
          <a:p>
            <a:r>
              <a:rPr sz="1100" b="1">
                <a:solidFill>
                  <a:srgbClr val="0B1F3A"/>
                </a:solidFill>
              </a:rPr>
              <a:t>N</a:t>
            </a:r>
          </a:p>
        </p:txBody>
      </p:sp>
      <p:sp>
        <p:nvSpPr>
          <p:cNvPr id="76" name="TextBox 75"/>
          <p:cNvSpPr txBox="1"/>
          <p:nvPr/>
        </p:nvSpPr>
        <p:spPr>
          <a:xfrm>
            <a:off x="5760720" y="5074920"/>
            <a:ext cx="274320" cy="201168"/>
          </a:xfrm>
          <a:prstGeom prst="rect">
            <a:avLst/>
          </a:prstGeom>
          <a:noFill/>
        </p:spPr>
        <p:txBody>
          <a:bodyPr wrap="none" lIns="0" tIns="0" rIns="0" bIns="0">
            <a:spAutoFit/>
          </a:bodyPr>
          <a:lstStyle/>
          <a:p>
            <a:r>
              <a:rPr sz="1100" b="1">
                <a:solidFill>
                  <a:srgbClr val="0B1F3A"/>
                </a:solidFill>
              </a:rPr>
              <a:t>1</a:t>
            </a:r>
          </a:p>
        </p:txBody>
      </p:sp>
      <p:cxnSp>
        <p:nvCxnSpPr>
          <p:cNvPr id="77" name="Connector 76"/>
          <p:cNvCxnSpPr/>
          <p:nvPr/>
        </p:nvCxnSpPr>
        <p:spPr>
          <a:xfrm>
            <a:off x="7406640" y="4069080"/>
            <a:ext cx="1371600" cy="0"/>
          </a:xfrm>
          <a:prstGeom prst="line">
            <a:avLst/>
          </a:prstGeom>
          <a:ln w="28575">
            <a:solidFill>
              <a:srgbClr val="F2B705"/>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7479792" y="3849624"/>
            <a:ext cx="274320" cy="201168"/>
          </a:xfrm>
          <a:prstGeom prst="rect">
            <a:avLst/>
          </a:prstGeom>
          <a:noFill/>
        </p:spPr>
        <p:txBody>
          <a:bodyPr wrap="none" lIns="0" tIns="0" rIns="0" bIns="0">
            <a:spAutoFit/>
          </a:bodyPr>
          <a:lstStyle/>
          <a:p>
            <a:r>
              <a:rPr sz="1100" b="1">
                <a:solidFill>
                  <a:srgbClr val="0B1F3A"/>
                </a:solidFill>
              </a:rPr>
              <a:t>N</a:t>
            </a:r>
          </a:p>
        </p:txBody>
      </p:sp>
      <p:sp>
        <p:nvSpPr>
          <p:cNvPr id="79" name="TextBox 78"/>
          <p:cNvSpPr txBox="1"/>
          <p:nvPr/>
        </p:nvSpPr>
        <p:spPr>
          <a:xfrm>
            <a:off x="8549640" y="3849624"/>
            <a:ext cx="274320" cy="201168"/>
          </a:xfrm>
          <a:prstGeom prst="rect">
            <a:avLst/>
          </a:prstGeom>
          <a:noFill/>
        </p:spPr>
        <p:txBody>
          <a:bodyPr wrap="none" lIns="0" tIns="0" rIns="0" bIns="0">
            <a:spAutoFit/>
          </a:bodyPr>
          <a:lstStyle/>
          <a:p>
            <a:r>
              <a:rPr sz="1100" b="1">
                <a:solidFill>
                  <a:srgbClr val="0B1F3A"/>
                </a:solidFill>
              </a:rPr>
              <a:t>1</a:t>
            </a:r>
          </a:p>
        </p:txBody>
      </p:sp>
      <p:cxnSp>
        <p:nvCxnSpPr>
          <p:cNvPr id="80" name="Connector 79"/>
          <p:cNvCxnSpPr/>
          <p:nvPr/>
        </p:nvCxnSpPr>
        <p:spPr>
          <a:xfrm>
            <a:off x="10195560" y="2740152"/>
            <a:ext cx="0" cy="414528"/>
          </a:xfrm>
          <a:prstGeom prst="line">
            <a:avLst/>
          </a:prstGeom>
          <a:ln w="28575">
            <a:solidFill>
              <a:srgbClr val="F2B705"/>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10268712" y="2721864"/>
            <a:ext cx="274320" cy="201168"/>
          </a:xfrm>
          <a:prstGeom prst="rect">
            <a:avLst/>
          </a:prstGeom>
          <a:noFill/>
        </p:spPr>
        <p:txBody>
          <a:bodyPr wrap="none" lIns="0" tIns="0" rIns="0" bIns="0">
            <a:spAutoFit/>
          </a:bodyPr>
          <a:lstStyle/>
          <a:p>
            <a:r>
              <a:rPr sz="1100" b="1">
                <a:solidFill>
                  <a:srgbClr val="0B1F3A"/>
                </a:solidFill>
              </a:rPr>
              <a:t>N</a:t>
            </a:r>
          </a:p>
        </p:txBody>
      </p:sp>
      <p:sp>
        <p:nvSpPr>
          <p:cNvPr id="82" name="TextBox 81"/>
          <p:cNvSpPr txBox="1"/>
          <p:nvPr/>
        </p:nvSpPr>
        <p:spPr>
          <a:xfrm>
            <a:off x="10268712" y="2953512"/>
            <a:ext cx="274320" cy="201168"/>
          </a:xfrm>
          <a:prstGeom prst="rect">
            <a:avLst/>
          </a:prstGeom>
          <a:noFill/>
        </p:spPr>
        <p:txBody>
          <a:bodyPr wrap="none" lIns="0" tIns="0" rIns="0" bIns="0">
            <a:spAutoFit/>
          </a:bodyPr>
          <a:lstStyle/>
          <a:p>
            <a:r>
              <a:rPr sz="1100" b="1">
                <a:solidFill>
                  <a:srgbClr val="0B1F3A"/>
                </a:solidFill>
              </a:rPr>
              <a:t>1</a:t>
            </a:r>
          </a:p>
        </p:txBody>
      </p:sp>
      <p:cxnSp>
        <p:nvCxnSpPr>
          <p:cNvPr id="83" name="Connector 82"/>
          <p:cNvCxnSpPr/>
          <p:nvPr/>
        </p:nvCxnSpPr>
        <p:spPr>
          <a:xfrm>
            <a:off x="3749039" y="4069080"/>
            <a:ext cx="822961" cy="0"/>
          </a:xfrm>
          <a:prstGeom prst="line">
            <a:avLst/>
          </a:prstGeom>
          <a:ln w="28575">
            <a:solidFill>
              <a:srgbClr val="F2B705"/>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3822191" y="3849624"/>
            <a:ext cx="274320" cy="201168"/>
          </a:xfrm>
          <a:prstGeom prst="rect">
            <a:avLst/>
          </a:prstGeom>
          <a:noFill/>
        </p:spPr>
        <p:txBody>
          <a:bodyPr wrap="none" lIns="0" tIns="0" rIns="0" bIns="0">
            <a:spAutoFit/>
          </a:bodyPr>
          <a:lstStyle/>
          <a:p>
            <a:r>
              <a:rPr sz="1100" b="1">
                <a:solidFill>
                  <a:srgbClr val="0B1F3A"/>
                </a:solidFill>
              </a:rPr>
              <a:t>1</a:t>
            </a:r>
          </a:p>
        </p:txBody>
      </p:sp>
      <p:sp>
        <p:nvSpPr>
          <p:cNvPr id="85" name="TextBox 84"/>
          <p:cNvSpPr txBox="1"/>
          <p:nvPr/>
        </p:nvSpPr>
        <p:spPr>
          <a:xfrm>
            <a:off x="4343400" y="3849624"/>
            <a:ext cx="274320" cy="201168"/>
          </a:xfrm>
          <a:prstGeom prst="rect">
            <a:avLst/>
          </a:prstGeom>
          <a:noFill/>
        </p:spPr>
        <p:txBody>
          <a:bodyPr wrap="none" lIns="0" tIns="0" rIns="0" bIns="0">
            <a:spAutoFit/>
          </a:bodyPr>
          <a:lstStyle/>
          <a:p>
            <a:r>
              <a:rPr sz="1100" b="1">
                <a:solidFill>
                  <a:srgbClr val="0B1F3A"/>
                </a:solidFill>
              </a:rPr>
              <a:t>1</a:t>
            </a:r>
          </a:p>
        </p:txBody>
      </p:sp>
      <p:cxnSp>
        <p:nvCxnSpPr>
          <p:cNvPr id="86" name="Connector 85"/>
          <p:cNvCxnSpPr/>
          <p:nvPr/>
        </p:nvCxnSpPr>
        <p:spPr>
          <a:xfrm>
            <a:off x="3383280" y="1783080"/>
            <a:ext cx="777240" cy="0"/>
          </a:xfrm>
          <a:prstGeom prst="line">
            <a:avLst/>
          </a:prstGeom>
          <a:ln w="28575">
            <a:solidFill>
              <a:srgbClr val="F2B705"/>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160520" y="1783080"/>
            <a:ext cx="0" cy="1920240"/>
          </a:xfrm>
          <a:prstGeom prst="line">
            <a:avLst/>
          </a:prstGeom>
          <a:ln w="28575">
            <a:solidFill>
              <a:srgbClr val="F2B705"/>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160520" y="3703320"/>
            <a:ext cx="411480" cy="0"/>
          </a:xfrm>
          <a:prstGeom prst="line">
            <a:avLst/>
          </a:prstGeom>
          <a:ln w="28575">
            <a:solidFill>
              <a:srgbClr val="F2B705"/>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3456432" y="1572768"/>
            <a:ext cx="274320" cy="201168"/>
          </a:xfrm>
          <a:prstGeom prst="rect">
            <a:avLst/>
          </a:prstGeom>
          <a:noFill/>
        </p:spPr>
        <p:txBody>
          <a:bodyPr wrap="none" lIns="0" tIns="0" rIns="0" bIns="0">
            <a:spAutoFit/>
          </a:bodyPr>
          <a:lstStyle/>
          <a:p>
            <a:r>
              <a:rPr sz="1100" b="1">
                <a:solidFill>
                  <a:srgbClr val="0B1F3A"/>
                </a:solidFill>
              </a:rPr>
              <a:t>N</a:t>
            </a:r>
          </a:p>
        </p:txBody>
      </p:sp>
      <p:sp>
        <p:nvSpPr>
          <p:cNvPr id="90" name="TextBox 89"/>
          <p:cNvSpPr txBox="1"/>
          <p:nvPr/>
        </p:nvSpPr>
        <p:spPr>
          <a:xfrm>
            <a:off x="4343400" y="3483864"/>
            <a:ext cx="274320" cy="201168"/>
          </a:xfrm>
          <a:prstGeom prst="rect">
            <a:avLst/>
          </a:prstGeom>
          <a:noFill/>
        </p:spPr>
        <p:txBody>
          <a:bodyPr wrap="none" lIns="0" tIns="0" rIns="0" bIns="0">
            <a:spAutoFit/>
          </a:bodyPr>
          <a:lstStyle/>
          <a:p>
            <a:r>
              <a:rPr sz="1100" b="1">
                <a:solidFill>
                  <a:srgbClr val="0B1F3A"/>
                </a:solidFill>
              </a:rPr>
              <a:t>1</a:t>
            </a:r>
          </a:p>
        </p:txBody>
      </p:sp>
      <p:sp>
        <p:nvSpPr>
          <p:cNvPr id="91" name="TextBox 90"/>
          <p:cNvSpPr txBox="1"/>
          <p:nvPr/>
        </p:nvSpPr>
        <p:spPr>
          <a:xfrm>
            <a:off x="548640" y="5623560"/>
            <a:ext cx="3749039" cy="777240"/>
          </a:xfrm>
          <a:prstGeom prst="rect">
            <a:avLst/>
          </a:prstGeom>
          <a:noFill/>
        </p:spPr>
        <p:txBody>
          <a:bodyPr wrap="square">
            <a:spAutoFit/>
          </a:bodyPr>
          <a:lstStyle/>
          <a:p>
            <a:r>
              <a:rPr sz="1100" b="1">
                <a:solidFill>
                  <a:srgbClr val="B07A00"/>
                </a:solidFill>
              </a:rPr>
              <a:t>PK</a:t>
            </a:r>
            <a:r>
              <a:rPr sz="1100">
                <a:solidFill>
                  <a:srgbClr val="0B1F3A"/>
                </a:solidFill>
              </a:rPr>
              <a:t> primary key   </a:t>
            </a:r>
            <a:r>
              <a:rPr sz="1100" b="1">
                <a:solidFill>
                  <a:srgbClr val="1FA39B"/>
                </a:solidFill>
              </a:rPr>
              <a:t>FK</a:t>
            </a:r>
            <a:r>
              <a:rPr sz="1100">
                <a:solidFill>
                  <a:srgbClr val="0B1F3A"/>
                </a:solidFill>
              </a:rPr>
              <a:t> foreign key (→ parent table)   </a:t>
            </a:r>
            <a:r>
              <a:rPr sz="1100" b="1">
                <a:solidFill>
                  <a:srgbClr val="7A4FD1"/>
                </a:solidFill>
              </a:rPr>
              <a:t>UQ</a:t>
            </a:r>
            <a:r>
              <a:rPr sz="1100">
                <a:solidFill>
                  <a:srgbClr val="0B1F3A"/>
                </a:solidFill>
              </a:rPr>
              <a:t> unique</a:t>
            </a:r>
          </a:p>
          <a:p>
            <a:r>
              <a:rPr sz="1100">
                <a:solidFill>
                  <a:srgbClr val="0B1F3A"/>
                </a:solidFill>
              </a:rPr>
              <a:t>1 = one, N = many. trip_headers is the hub: every trip has one rider, one driver and one zone, one fare breakdown and at most one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From CSV files to a validated, indexed database</a:t>
            </a:r>
            <a:endParaRPr lang="en-US" sz="3200" dirty="0"/>
          </a:p>
        </p:txBody>
      </p:sp>
      <p:sp>
        <p:nvSpPr>
          <p:cNvPr id="3" name="Step card 1"/>
          <p:cNvSpPr/>
          <p:nvPr/>
        </p:nvSpPr>
        <p:spPr>
          <a:xfrm>
            <a:off x="548640" y="1645920"/>
            <a:ext cx="2560320" cy="2468880"/>
          </a:xfrm>
          <a:prstGeom prst="roundRect">
            <a:avLst>
              <a:gd name="adj" fmla="val 4444"/>
            </a:avLst>
          </a:prstGeom>
          <a:solidFill>
            <a:schemeClr val="bg2"/>
          </a:solidFill>
          <a:ln w="6350">
            <a:solidFill>
              <a:schemeClr val="bg2"/>
            </a:solidFill>
            <a:prstDash val="solid"/>
          </a:ln>
        </p:spPr>
        <p:txBody>
          <a:bodyPr/>
          <a:lstStyle/>
          <a:p>
            <a:endParaRPr lang="en-ZA"/>
          </a:p>
        </p:txBody>
      </p:sp>
      <p:sp>
        <p:nvSpPr>
          <p:cNvPr id="4" name="Step badge 1"/>
          <p:cNvSpPr txBox="1"/>
          <p:nvPr/>
        </p:nvSpPr>
        <p:spPr>
          <a:xfrm>
            <a:off x="731520" y="182880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417320" y="19202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Restore</a:t>
            </a:r>
            <a:endParaRPr lang="en-US" sz="1800" dirty="0"/>
          </a:p>
        </p:txBody>
      </p:sp>
      <p:sp>
        <p:nvSpPr>
          <p:cNvPr id="6" name="Text 4"/>
          <p:cNvSpPr txBox="1"/>
          <p:nvPr/>
        </p:nvSpPr>
        <p:spPr>
          <a:xfrm>
            <a:off x="731520" y="2606040"/>
            <a:ext cx="2194560" cy="1463040"/>
          </a:xfrm>
          <a:prstGeom prst="rect">
            <a:avLst/>
          </a:prstGeom>
          <a:noFill/>
          <a:ln/>
        </p:spPr>
        <p:txBody>
          <a:bodyPr wrap="square" lIns="0" tIns="0" rIns="0" bIns="0" rtlCol="0" anchor="t"/>
          <a:lstStyle/>
          <a:p>
            <a:pPr marL="0" indent="0">
              <a:buNone/>
            </a:pPr>
            <a:r>
              <a:rPr lang="en-US" sz="1400" dirty="0">
                <a:solidFill>
                  <a:schemeClr val="tx1"/>
                </a:solidFill>
              </a:rPr>
              <a:t>The master database ships as one PostgreSQL .backup file, restored in pgAdmin 4 so every member has an identical copy</a:t>
            </a:r>
            <a:endParaRPr lang="en-US" sz="1400" dirty="0"/>
          </a:p>
        </p:txBody>
      </p:sp>
      <p:sp>
        <p:nvSpPr>
          <p:cNvPr id="7" name="Shape 5"/>
          <p:cNvSpPr/>
          <p:nvPr/>
        </p:nvSpPr>
        <p:spPr>
          <a:xfrm>
            <a:off x="3108960" y="2880360"/>
            <a:ext cx="283464" cy="0"/>
          </a:xfrm>
          <a:prstGeom prst="line">
            <a:avLst/>
          </a:prstGeom>
          <a:noFill/>
          <a:ln w="25400">
            <a:solidFill>
              <a:srgbClr val="6B7A90"/>
            </a:solidFill>
            <a:prstDash val="solid"/>
            <a:tailEnd type="triangle"/>
          </a:ln>
        </p:spPr>
        <p:txBody>
          <a:bodyPr/>
          <a:lstStyle/>
          <a:p>
            <a:endParaRPr lang="en-ZA"/>
          </a:p>
        </p:txBody>
      </p:sp>
      <p:sp>
        <p:nvSpPr>
          <p:cNvPr id="8" name="Step card 2"/>
          <p:cNvSpPr/>
          <p:nvPr/>
        </p:nvSpPr>
        <p:spPr>
          <a:xfrm>
            <a:off x="3392424" y="1645920"/>
            <a:ext cx="2560320" cy="2468880"/>
          </a:xfrm>
          <a:prstGeom prst="roundRect">
            <a:avLst>
              <a:gd name="adj" fmla="val 4444"/>
            </a:avLst>
          </a:prstGeom>
          <a:solidFill>
            <a:schemeClr val="bg2"/>
          </a:solidFill>
          <a:ln w="6350">
            <a:solidFill>
              <a:schemeClr val="bg2"/>
            </a:solidFill>
            <a:prstDash val="solid"/>
          </a:ln>
        </p:spPr>
        <p:txBody>
          <a:bodyPr/>
          <a:lstStyle/>
          <a:p>
            <a:endParaRPr lang="en-ZA"/>
          </a:p>
        </p:txBody>
      </p:sp>
      <p:sp>
        <p:nvSpPr>
          <p:cNvPr id="9" name="Step badge 2"/>
          <p:cNvSpPr txBox="1"/>
          <p:nvPr/>
        </p:nvSpPr>
        <p:spPr>
          <a:xfrm>
            <a:off x="3575304" y="182880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8"/>
          <p:cNvSpPr txBox="1"/>
          <p:nvPr/>
        </p:nvSpPr>
        <p:spPr>
          <a:xfrm>
            <a:off x="4261104" y="19202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Validate</a:t>
            </a:r>
            <a:endParaRPr lang="en-US" sz="1800" dirty="0"/>
          </a:p>
        </p:txBody>
      </p:sp>
      <p:sp>
        <p:nvSpPr>
          <p:cNvPr id="11" name="Text 9"/>
          <p:cNvSpPr txBox="1"/>
          <p:nvPr/>
        </p:nvSpPr>
        <p:spPr>
          <a:xfrm>
            <a:off x="3575304" y="2606040"/>
            <a:ext cx="2194560" cy="1463040"/>
          </a:xfrm>
          <a:prstGeom prst="rect">
            <a:avLst/>
          </a:prstGeom>
          <a:noFill/>
          <a:ln/>
        </p:spPr>
        <p:txBody>
          <a:bodyPr wrap="square" lIns="0" tIns="0" rIns="0" bIns="0" rtlCol="0" anchor="t"/>
          <a:lstStyle/>
          <a:p>
            <a:pPr marL="0" indent="0">
              <a:buNone/>
            </a:pPr>
            <a:r>
              <a:rPr lang="en-US" sz="1400" dirty="0">
                <a:solidFill>
                  <a:schemeClr val="tx1"/>
                </a:solidFill>
              </a:rPr>
              <a:t>04_validation.sql counts the rows in every table to confirm a complete load</a:t>
            </a:r>
            <a:endParaRPr lang="en-US" sz="1400" dirty="0"/>
          </a:p>
        </p:txBody>
      </p:sp>
      <p:sp>
        <p:nvSpPr>
          <p:cNvPr id="12" name="Shape 10"/>
          <p:cNvSpPr/>
          <p:nvPr/>
        </p:nvSpPr>
        <p:spPr>
          <a:xfrm>
            <a:off x="5952744" y="2880360"/>
            <a:ext cx="283464" cy="0"/>
          </a:xfrm>
          <a:prstGeom prst="line">
            <a:avLst/>
          </a:prstGeom>
          <a:noFill/>
          <a:ln w="25400">
            <a:solidFill>
              <a:srgbClr val="6B7A90"/>
            </a:solidFill>
            <a:prstDash val="solid"/>
            <a:tailEnd type="triangle"/>
          </a:ln>
        </p:spPr>
        <p:txBody>
          <a:bodyPr/>
          <a:lstStyle/>
          <a:p>
            <a:endParaRPr lang="en-ZA"/>
          </a:p>
        </p:txBody>
      </p:sp>
      <p:sp>
        <p:nvSpPr>
          <p:cNvPr id="13" name="Step card 3"/>
          <p:cNvSpPr/>
          <p:nvPr/>
        </p:nvSpPr>
        <p:spPr>
          <a:xfrm>
            <a:off x="6236208" y="1645920"/>
            <a:ext cx="2560320" cy="2468880"/>
          </a:xfrm>
          <a:prstGeom prst="roundRect">
            <a:avLst>
              <a:gd name="adj" fmla="val 4444"/>
            </a:avLst>
          </a:prstGeom>
          <a:solidFill>
            <a:schemeClr val="bg2"/>
          </a:solidFill>
          <a:ln w="6350">
            <a:solidFill>
              <a:schemeClr val="bg2"/>
            </a:solidFill>
            <a:prstDash val="solid"/>
          </a:ln>
        </p:spPr>
        <p:txBody>
          <a:bodyPr/>
          <a:lstStyle/>
          <a:p>
            <a:endParaRPr lang="en-ZA"/>
          </a:p>
        </p:txBody>
      </p:sp>
      <p:sp>
        <p:nvSpPr>
          <p:cNvPr id="14" name="Step badge 3"/>
          <p:cNvSpPr txBox="1"/>
          <p:nvPr/>
        </p:nvSpPr>
        <p:spPr>
          <a:xfrm>
            <a:off x="6419088" y="182880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3"/>
          <p:cNvSpPr txBox="1"/>
          <p:nvPr/>
        </p:nvSpPr>
        <p:spPr>
          <a:xfrm>
            <a:off x="7104888" y="19202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Index</a:t>
            </a:r>
            <a:endParaRPr lang="en-US" sz="1800" dirty="0"/>
          </a:p>
        </p:txBody>
      </p:sp>
      <p:sp>
        <p:nvSpPr>
          <p:cNvPr id="16" name="Text 14"/>
          <p:cNvSpPr txBox="1"/>
          <p:nvPr/>
        </p:nvSpPr>
        <p:spPr>
          <a:xfrm>
            <a:off x="6419088" y="2606040"/>
            <a:ext cx="2194560" cy="1463040"/>
          </a:xfrm>
          <a:prstGeom prst="rect">
            <a:avLst/>
          </a:prstGeom>
          <a:noFill/>
          <a:ln/>
        </p:spPr>
        <p:txBody>
          <a:bodyPr wrap="square" lIns="0" tIns="0" rIns="0" bIns="0" rtlCol="0" anchor="t"/>
          <a:lstStyle/>
          <a:p>
            <a:pPr marL="0" indent="0">
              <a:buNone/>
            </a:pPr>
            <a:r>
              <a:rPr lang="en-US" sz="1400" dirty="0">
                <a:solidFill>
                  <a:schemeClr val="tx1"/>
                </a:solidFill>
              </a:rPr>
              <a:t>05_indexes.sql adds eight indexes on join, date, status and category columns</a:t>
            </a:r>
            <a:endParaRPr lang="en-US" sz="1400" dirty="0"/>
          </a:p>
        </p:txBody>
      </p:sp>
      <p:sp>
        <p:nvSpPr>
          <p:cNvPr id="17" name="Shape 15"/>
          <p:cNvSpPr/>
          <p:nvPr/>
        </p:nvSpPr>
        <p:spPr>
          <a:xfrm>
            <a:off x="8796528" y="2880360"/>
            <a:ext cx="283464" cy="0"/>
          </a:xfrm>
          <a:prstGeom prst="line">
            <a:avLst/>
          </a:prstGeom>
          <a:noFill/>
          <a:ln w="25400">
            <a:solidFill>
              <a:srgbClr val="6B7A90"/>
            </a:solidFill>
            <a:prstDash val="solid"/>
            <a:tailEnd type="triangle"/>
          </a:ln>
        </p:spPr>
        <p:txBody>
          <a:bodyPr/>
          <a:lstStyle/>
          <a:p>
            <a:endParaRPr lang="en-ZA"/>
          </a:p>
        </p:txBody>
      </p:sp>
      <p:sp>
        <p:nvSpPr>
          <p:cNvPr id="18" name="Step card 4"/>
          <p:cNvSpPr/>
          <p:nvPr/>
        </p:nvSpPr>
        <p:spPr>
          <a:xfrm>
            <a:off x="9079992" y="1645920"/>
            <a:ext cx="2560320" cy="2468880"/>
          </a:xfrm>
          <a:prstGeom prst="roundRect">
            <a:avLst>
              <a:gd name="adj" fmla="val 4444"/>
            </a:avLst>
          </a:prstGeom>
          <a:solidFill>
            <a:schemeClr val="bg2"/>
          </a:solidFill>
          <a:ln w="6350">
            <a:solidFill>
              <a:schemeClr val="bg2"/>
            </a:solidFill>
            <a:prstDash val="solid"/>
          </a:ln>
        </p:spPr>
        <p:txBody>
          <a:bodyPr/>
          <a:lstStyle/>
          <a:p>
            <a:endParaRPr lang="en-ZA"/>
          </a:p>
        </p:txBody>
      </p:sp>
      <p:sp>
        <p:nvSpPr>
          <p:cNvPr id="19" name="Step badge 4"/>
          <p:cNvSpPr txBox="1"/>
          <p:nvPr/>
        </p:nvSpPr>
        <p:spPr>
          <a:xfrm>
            <a:off x="9262872" y="182880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0" name="Text 18"/>
          <p:cNvSpPr txBox="1"/>
          <p:nvPr/>
        </p:nvSpPr>
        <p:spPr>
          <a:xfrm>
            <a:off x="9948672" y="19202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Query</a:t>
            </a:r>
            <a:endParaRPr lang="en-US" sz="1800" dirty="0"/>
          </a:p>
        </p:txBody>
      </p:sp>
      <p:sp>
        <p:nvSpPr>
          <p:cNvPr id="21" name="Text 19"/>
          <p:cNvSpPr txBox="1"/>
          <p:nvPr/>
        </p:nvSpPr>
        <p:spPr>
          <a:xfrm>
            <a:off x="9262872" y="2606040"/>
            <a:ext cx="2194560" cy="1463040"/>
          </a:xfrm>
          <a:prstGeom prst="rect">
            <a:avLst/>
          </a:prstGeom>
          <a:noFill/>
          <a:ln/>
        </p:spPr>
        <p:txBody>
          <a:bodyPr wrap="square" lIns="0" tIns="0" rIns="0" bIns="0" rtlCol="0" anchor="t"/>
          <a:lstStyle/>
          <a:p>
            <a:pPr marL="0" indent="0">
              <a:buNone/>
            </a:pPr>
            <a:r>
              <a:rPr lang="en-US" sz="1400" dirty="0">
                <a:solidFill>
                  <a:schemeClr val="tx1"/>
                </a:solidFill>
              </a:rPr>
              <a:t>RQ queries use completed trips only, and several run inside read-only transactions</a:t>
            </a:r>
            <a:endParaRPr lang="en-US" sz="1400" dirty="0"/>
          </a:p>
        </p:txBody>
      </p:sp>
      <p:sp>
        <p:nvSpPr>
          <p:cNvPr id="22" name="Count chip 1"/>
          <p:cNvSpPr/>
          <p:nvPr/>
        </p:nvSpPr>
        <p:spPr>
          <a:xfrm>
            <a:off x="548640"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23" name="Text 21"/>
          <p:cNvSpPr txBox="1"/>
          <p:nvPr/>
        </p:nvSpPr>
        <p:spPr>
          <a:xfrm>
            <a:off x="640080"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800</a:t>
            </a:r>
            <a:endParaRPr lang="en-US" sz="2200" dirty="0"/>
          </a:p>
        </p:txBody>
      </p:sp>
      <p:sp>
        <p:nvSpPr>
          <p:cNvPr id="24" name="Text 22"/>
          <p:cNvSpPr txBox="1"/>
          <p:nvPr/>
        </p:nvSpPr>
        <p:spPr>
          <a:xfrm>
            <a:off x="640080"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drivers</a:t>
            </a:r>
            <a:endParaRPr lang="en-US" sz="1200" dirty="0"/>
          </a:p>
        </p:txBody>
      </p:sp>
      <p:sp>
        <p:nvSpPr>
          <p:cNvPr id="25" name="Count chip 2"/>
          <p:cNvSpPr/>
          <p:nvPr/>
        </p:nvSpPr>
        <p:spPr>
          <a:xfrm>
            <a:off x="2419502"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26" name="Text 24"/>
          <p:cNvSpPr txBox="1"/>
          <p:nvPr/>
        </p:nvSpPr>
        <p:spPr>
          <a:xfrm>
            <a:off x="2510942"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1,200</a:t>
            </a:r>
            <a:endParaRPr lang="en-US" sz="2200" dirty="0"/>
          </a:p>
        </p:txBody>
      </p:sp>
      <p:sp>
        <p:nvSpPr>
          <p:cNvPr id="27" name="Text 25"/>
          <p:cNvSpPr txBox="1"/>
          <p:nvPr/>
        </p:nvSpPr>
        <p:spPr>
          <a:xfrm>
            <a:off x="2510942"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riders</a:t>
            </a:r>
            <a:endParaRPr lang="en-US" sz="1200" dirty="0"/>
          </a:p>
        </p:txBody>
      </p:sp>
      <p:sp>
        <p:nvSpPr>
          <p:cNvPr id="28" name="Count chip 3"/>
          <p:cNvSpPr/>
          <p:nvPr/>
        </p:nvSpPr>
        <p:spPr>
          <a:xfrm>
            <a:off x="4290365"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29" name="Text 27"/>
          <p:cNvSpPr txBox="1"/>
          <p:nvPr/>
        </p:nvSpPr>
        <p:spPr>
          <a:xfrm>
            <a:off x="4381805"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800</a:t>
            </a:r>
            <a:endParaRPr lang="en-US" sz="2200" dirty="0"/>
          </a:p>
        </p:txBody>
      </p:sp>
      <p:sp>
        <p:nvSpPr>
          <p:cNvPr id="30" name="Text 28"/>
          <p:cNvSpPr txBox="1"/>
          <p:nvPr/>
        </p:nvSpPr>
        <p:spPr>
          <a:xfrm>
            <a:off x="4381805"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vehicles</a:t>
            </a:r>
            <a:endParaRPr lang="en-US" sz="1200" dirty="0"/>
          </a:p>
        </p:txBody>
      </p:sp>
      <p:sp>
        <p:nvSpPr>
          <p:cNvPr id="31" name="Count chip 4"/>
          <p:cNvSpPr/>
          <p:nvPr/>
        </p:nvSpPr>
        <p:spPr>
          <a:xfrm>
            <a:off x="6161227"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32" name="Text 30"/>
          <p:cNvSpPr txBox="1"/>
          <p:nvPr/>
        </p:nvSpPr>
        <p:spPr>
          <a:xfrm>
            <a:off x="6252667"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50,000</a:t>
            </a:r>
            <a:endParaRPr lang="en-US" sz="2200" dirty="0"/>
          </a:p>
        </p:txBody>
      </p:sp>
      <p:sp>
        <p:nvSpPr>
          <p:cNvPr id="33" name="Text 31"/>
          <p:cNvSpPr txBox="1"/>
          <p:nvPr/>
        </p:nvSpPr>
        <p:spPr>
          <a:xfrm>
            <a:off x="6252667"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trip headers</a:t>
            </a:r>
            <a:endParaRPr lang="en-US" sz="1200" dirty="0"/>
          </a:p>
        </p:txBody>
      </p:sp>
      <p:sp>
        <p:nvSpPr>
          <p:cNvPr id="34" name="Count chip 5"/>
          <p:cNvSpPr/>
          <p:nvPr/>
        </p:nvSpPr>
        <p:spPr>
          <a:xfrm>
            <a:off x="8032090"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35" name="Text 33"/>
          <p:cNvSpPr txBox="1"/>
          <p:nvPr/>
        </p:nvSpPr>
        <p:spPr>
          <a:xfrm>
            <a:off x="8123530"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50,000</a:t>
            </a:r>
            <a:endParaRPr lang="en-US" sz="2200" dirty="0"/>
          </a:p>
        </p:txBody>
      </p:sp>
      <p:sp>
        <p:nvSpPr>
          <p:cNvPr id="36" name="Text 34"/>
          <p:cNvSpPr txBox="1"/>
          <p:nvPr/>
        </p:nvSpPr>
        <p:spPr>
          <a:xfrm>
            <a:off x="8123530"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fare records</a:t>
            </a:r>
            <a:endParaRPr lang="en-US" sz="1200" dirty="0"/>
          </a:p>
        </p:txBody>
      </p:sp>
      <p:sp>
        <p:nvSpPr>
          <p:cNvPr id="37" name="Count chip 6"/>
          <p:cNvSpPr/>
          <p:nvPr/>
        </p:nvSpPr>
        <p:spPr>
          <a:xfrm>
            <a:off x="9902952"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38" name="Text 36"/>
          <p:cNvSpPr txBox="1"/>
          <p:nvPr/>
        </p:nvSpPr>
        <p:spPr>
          <a:xfrm>
            <a:off x="9994392"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25,055</a:t>
            </a:r>
            <a:endParaRPr lang="en-US" sz="2200" dirty="0"/>
          </a:p>
        </p:txBody>
      </p:sp>
      <p:sp>
        <p:nvSpPr>
          <p:cNvPr id="39" name="Text 37"/>
          <p:cNvSpPr txBox="1"/>
          <p:nvPr/>
        </p:nvSpPr>
        <p:spPr>
          <a:xfrm>
            <a:off x="9994392"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reviews</a:t>
            </a:r>
            <a:endParaRPr lang="en-US" sz="1200" dirty="0"/>
          </a:p>
        </p:txBody>
      </p:sp>
      <p:sp>
        <p:nvSpPr>
          <p:cNvPr id="40" name="Text 38"/>
          <p:cNvSpPr txBox="1"/>
          <p:nvPr/>
        </p:nvSpPr>
        <p:spPr>
          <a:xfrm>
            <a:off x="548640" y="5669280"/>
            <a:ext cx="11091672" cy="548640"/>
          </a:xfrm>
          <a:prstGeom prst="rect">
            <a:avLst/>
          </a:prstGeom>
          <a:noFill/>
          <a:ln/>
        </p:spPr>
        <p:txBody>
          <a:bodyPr wrap="square" lIns="0" tIns="0" rIns="0" bIns="0" rtlCol="0" anchor="t"/>
          <a:lstStyle/>
          <a:p>
            <a:pPr marL="0" indent="0">
              <a:buNone/>
            </a:pPr>
            <a:r>
              <a:rPr lang="en-US" sz="1400" dirty="0">
                <a:solidFill>
                  <a:schemeClr val="accent4"/>
                </a:solidFill>
              </a:rPr>
              <a:t>Of the 50,000 trips, 33,331 are completed and 16,669 are cancelled. Cancelled trips carry zero distance, duration and payout, so they are excluded from earnings measures.</a:t>
            </a:r>
            <a:endParaRPr lang="en-US" sz="1400" dirty="0"/>
          </a:p>
        </p:txBody>
      </p:sp>
      <p:sp>
        <p:nvSpPr>
          <p:cNvPr id="41"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SQL techniques: advanced SQL in every question</a:t>
            </a:r>
          </a:p>
        </p:txBody>
      </p:sp>
      <p:sp>
        <p:nvSpPr>
          <p:cNvPr id="4" name="TextBox 3"/>
          <p:cNvSpPr txBox="1"/>
          <p:nvPr/>
        </p:nvSpPr>
        <p:spPr>
          <a:xfrm>
            <a:off x="548640" y="5760720"/>
            <a:ext cx="11091672" cy="640080"/>
          </a:xfrm>
          <a:prstGeom prst="rect">
            <a:avLst/>
          </a:prstGeom>
          <a:noFill/>
        </p:spPr>
        <p:txBody>
          <a:bodyPr wrap="square">
            <a:spAutoFit/>
          </a:bodyPr>
          <a:lstStyle/>
          <a:p>
            <a:r>
              <a:rPr sz="1400" b="1">
                <a:solidFill>
                  <a:srgbClr val="0B1F3A"/>
                </a:solidFill>
              </a:rPr>
              <a:t>Plus additional_advanced_queries.sql: platform shares, city ranks, a monthly trend using LAG, and a subquery filter.</a:t>
            </a:r>
          </a:p>
        </p:txBody>
      </p:sp>
      <p:graphicFrame>
        <p:nvGraphicFramePr>
          <p:cNvPr id="5" name="Table 4"/>
          <p:cNvGraphicFramePr>
            <a:graphicFrameLocks noGrp="1"/>
          </p:cNvGraphicFramePr>
          <p:nvPr/>
        </p:nvGraphicFramePr>
        <p:xfrm>
          <a:off x="548640" y="1325880"/>
          <a:ext cx="11091672" cy="4389120"/>
        </p:xfrm>
        <a:graphic>
          <a:graphicData uri="http://schemas.openxmlformats.org/drawingml/2006/table">
            <a:tbl>
              <a:tblPr firstRow="1" bandRow="1">
                <a:tableStyleId>{5C22544A-7EE6-4342-B048-85BDC9FD1C3A}</a:tableStyleId>
              </a:tblPr>
              <a:tblGrid>
                <a:gridCol w="5120640">
                  <a:extLst>
                    <a:ext uri="{9D8B030D-6E8A-4147-A177-3AD203B41FA5}">
                      <a16:colId xmlns:a16="http://schemas.microsoft.com/office/drawing/2014/main" val="20000"/>
                    </a:ext>
                  </a:extLst>
                </a:gridCol>
                <a:gridCol w="995172">
                  <a:extLst>
                    <a:ext uri="{9D8B030D-6E8A-4147-A177-3AD203B41FA5}">
                      <a16:colId xmlns:a16="http://schemas.microsoft.com/office/drawing/2014/main" val="20001"/>
                    </a:ext>
                  </a:extLst>
                </a:gridCol>
                <a:gridCol w="995172">
                  <a:extLst>
                    <a:ext uri="{9D8B030D-6E8A-4147-A177-3AD203B41FA5}">
                      <a16:colId xmlns:a16="http://schemas.microsoft.com/office/drawing/2014/main" val="20002"/>
                    </a:ext>
                  </a:extLst>
                </a:gridCol>
                <a:gridCol w="995172">
                  <a:extLst>
                    <a:ext uri="{9D8B030D-6E8A-4147-A177-3AD203B41FA5}">
                      <a16:colId xmlns:a16="http://schemas.microsoft.com/office/drawing/2014/main" val="20003"/>
                    </a:ext>
                  </a:extLst>
                </a:gridCol>
                <a:gridCol w="995172">
                  <a:extLst>
                    <a:ext uri="{9D8B030D-6E8A-4147-A177-3AD203B41FA5}">
                      <a16:colId xmlns:a16="http://schemas.microsoft.com/office/drawing/2014/main" val="20004"/>
                    </a:ext>
                  </a:extLst>
                </a:gridCol>
                <a:gridCol w="995172">
                  <a:extLst>
                    <a:ext uri="{9D8B030D-6E8A-4147-A177-3AD203B41FA5}">
                      <a16:colId xmlns:a16="http://schemas.microsoft.com/office/drawing/2014/main" val="20005"/>
                    </a:ext>
                  </a:extLst>
                </a:gridCol>
                <a:gridCol w="995172">
                  <a:extLst>
                    <a:ext uri="{9D8B030D-6E8A-4147-A177-3AD203B41FA5}">
                      <a16:colId xmlns:a16="http://schemas.microsoft.com/office/drawing/2014/main" val="20006"/>
                    </a:ext>
                  </a:extLst>
                </a:gridCol>
              </a:tblGrid>
              <a:tr h="365760">
                <a:tc>
                  <a:txBody>
                    <a:bodyPr/>
                    <a:lstStyle/>
                    <a:p>
                      <a:pPr algn="l"/>
                      <a:r>
                        <a:rPr sz="1400" b="1">
                          <a:solidFill>
                            <a:srgbClr val="FFFFFF"/>
                          </a:solidFill>
                        </a:rPr>
                        <a:t>Technique</a:t>
                      </a:r>
                    </a:p>
                  </a:txBody>
                  <a:tcPr marT="15000" marB="15000" anchor="ctr">
                    <a:solidFill>
                      <a:srgbClr val="0B1F3A"/>
                    </a:solidFill>
                  </a:tcPr>
                </a:tc>
                <a:tc>
                  <a:txBody>
                    <a:bodyPr/>
                    <a:lstStyle/>
                    <a:p>
                      <a:pPr algn="ctr"/>
                      <a:r>
                        <a:rPr sz="1400" b="1">
                          <a:solidFill>
                            <a:srgbClr val="FFFFFF"/>
                          </a:solidFill>
                        </a:rPr>
                        <a:t>RQ1</a:t>
                      </a:r>
                    </a:p>
                  </a:txBody>
                  <a:tcPr marT="15000" marB="15000" anchor="ctr">
                    <a:solidFill>
                      <a:srgbClr val="0B1F3A"/>
                    </a:solidFill>
                  </a:tcPr>
                </a:tc>
                <a:tc>
                  <a:txBody>
                    <a:bodyPr/>
                    <a:lstStyle/>
                    <a:p>
                      <a:pPr algn="ctr"/>
                      <a:r>
                        <a:rPr sz="1400" b="1">
                          <a:solidFill>
                            <a:srgbClr val="FFFFFF"/>
                          </a:solidFill>
                        </a:rPr>
                        <a:t>RQ2</a:t>
                      </a:r>
                    </a:p>
                  </a:txBody>
                  <a:tcPr marT="15000" marB="15000" anchor="ctr">
                    <a:solidFill>
                      <a:srgbClr val="0B1F3A"/>
                    </a:solidFill>
                  </a:tcPr>
                </a:tc>
                <a:tc>
                  <a:txBody>
                    <a:bodyPr/>
                    <a:lstStyle/>
                    <a:p>
                      <a:pPr algn="ctr"/>
                      <a:r>
                        <a:rPr sz="1400" b="1">
                          <a:solidFill>
                            <a:srgbClr val="FFFFFF"/>
                          </a:solidFill>
                        </a:rPr>
                        <a:t>RQ3</a:t>
                      </a:r>
                    </a:p>
                  </a:txBody>
                  <a:tcPr marT="15000" marB="15000" anchor="ctr">
                    <a:solidFill>
                      <a:srgbClr val="0B1F3A"/>
                    </a:solidFill>
                  </a:tcPr>
                </a:tc>
                <a:tc>
                  <a:txBody>
                    <a:bodyPr/>
                    <a:lstStyle/>
                    <a:p>
                      <a:pPr algn="ctr"/>
                      <a:r>
                        <a:rPr sz="1400" b="1">
                          <a:solidFill>
                            <a:srgbClr val="FFFFFF"/>
                          </a:solidFill>
                        </a:rPr>
                        <a:t>RQ4</a:t>
                      </a:r>
                    </a:p>
                  </a:txBody>
                  <a:tcPr marT="15000" marB="15000" anchor="ctr">
                    <a:solidFill>
                      <a:srgbClr val="0B1F3A"/>
                    </a:solidFill>
                  </a:tcPr>
                </a:tc>
                <a:tc>
                  <a:txBody>
                    <a:bodyPr/>
                    <a:lstStyle/>
                    <a:p>
                      <a:pPr algn="ctr"/>
                      <a:r>
                        <a:rPr sz="1400" b="1">
                          <a:solidFill>
                            <a:srgbClr val="FFFFFF"/>
                          </a:solidFill>
                        </a:rPr>
                        <a:t>RQ5</a:t>
                      </a:r>
                    </a:p>
                  </a:txBody>
                  <a:tcPr marT="15000" marB="15000" anchor="ctr">
                    <a:solidFill>
                      <a:srgbClr val="0B1F3A"/>
                    </a:solidFill>
                  </a:tcPr>
                </a:tc>
                <a:tc>
                  <a:txBody>
                    <a:bodyPr/>
                    <a:lstStyle/>
                    <a:p>
                      <a:pPr algn="ctr"/>
                      <a:r>
                        <a:rPr sz="1400" b="1">
                          <a:solidFill>
                            <a:srgbClr val="FFFFFF"/>
                          </a:solidFill>
                        </a:rPr>
                        <a:t>RQ6</a:t>
                      </a:r>
                    </a:p>
                  </a:txBody>
                  <a:tcPr marT="15000" marB="15000" anchor="ctr">
                    <a:solidFill>
                      <a:srgbClr val="0B1F3A"/>
                    </a:solidFill>
                  </a:tcPr>
                </a:tc>
                <a:extLst>
                  <a:ext uri="{0D108BD9-81ED-4DB2-BD59-A6C34878D82A}">
                    <a16:rowId xmlns:a16="http://schemas.microsoft.com/office/drawing/2014/main" val="10000"/>
                  </a:ext>
                </a:extLst>
              </a:tr>
              <a:tr h="365760">
                <a:tc>
                  <a:txBody>
                    <a:bodyPr/>
                    <a:lstStyle/>
                    <a:p>
                      <a:pPr algn="l"/>
                      <a:r>
                        <a:rPr sz="1300" b="1">
                          <a:solidFill>
                            <a:srgbClr val="0B1F3A"/>
                          </a:solidFill>
                        </a:rPr>
                        <a:t>Multi-table joins</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01"/>
                  </a:ext>
                </a:extLst>
              </a:tr>
              <a:tr h="365760">
                <a:tc>
                  <a:txBody>
                    <a:bodyPr/>
                    <a:lstStyle/>
                    <a:p>
                      <a:pPr algn="l"/>
                      <a:r>
                        <a:rPr sz="1300" b="1">
                          <a:solidFill>
                            <a:srgbClr val="0B1F3A"/>
                          </a:solidFill>
                        </a:rPr>
                        <a:t>LEFT JOIN</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extLst>
                  <a:ext uri="{0D108BD9-81ED-4DB2-BD59-A6C34878D82A}">
                    <a16:rowId xmlns:a16="http://schemas.microsoft.com/office/drawing/2014/main" val="10002"/>
                  </a:ext>
                </a:extLst>
              </a:tr>
              <a:tr h="365760">
                <a:tc>
                  <a:txBody>
                    <a:bodyPr/>
                    <a:lstStyle/>
                    <a:p>
                      <a:pPr algn="l"/>
                      <a:r>
                        <a:rPr sz="1300" b="1">
                          <a:solidFill>
                            <a:srgbClr val="0B1F3A"/>
                          </a:solidFill>
                        </a:rPr>
                        <a:t>GROUP BY and aggregates</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03"/>
                  </a:ext>
                </a:extLst>
              </a:tr>
              <a:tr h="365760">
                <a:tc>
                  <a:txBody>
                    <a:bodyPr/>
                    <a:lstStyle/>
                    <a:p>
                      <a:pPr algn="l"/>
                      <a:r>
                        <a:rPr sz="1300" b="1">
                          <a:solidFill>
                            <a:srgbClr val="0B1F3A"/>
                          </a:solidFill>
                        </a:rPr>
                        <a:t>HAVING</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extLst>
                  <a:ext uri="{0D108BD9-81ED-4DB2-BD59-A6C34878D82A}">
                    <a16:rowId xmlns:a16="http://schemas.microsoft.com/office/drawing/2014/main" val="10004"/>
                  </a:ext>
                </a:extLst>
              </a:tr>
              <a:tr h="365760">
                <a:tc>
                  <a:txBody>
                    <a:bodyPr/>
                    <a:lstStyle/>
                    <a:p>
                      <a:pPr algn="l"/>
                      <a:r>
                        <a:rPr sz="1300" b="1">
                          <a:solidFill>
                            <a:srgbClr val="0B1F3A"/>
                          </a:solidFill>
                        </a:rPr>
                        <a:t>CTEs</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05"/>
                  </a:ext>
                </a:extLst>
              </a:tr>
              <a:tr h="365760">
                <a:tc>
                  <a:txBody>
                    <a:bodyPr/>
                    <a:lstStyle/>
                    <a:p>
                      <a:pPr algn="l"/>
                      <a:r>
                        <a:rPr sz="1300" b="1">
                          <a:solidFill>
                            <a:srgbClr val="0B1F3A"/>
                          </a:solidFill>
                        </a:rPr>
                        <a:t>Subqueries</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extLst>
                  <a:ext uri="{0D108BD9-81ED-4DB2-BD59-A6C34878D82A}">
                    <a16:rowId xmlns:a16="http://schemas.microsoft.com/office/drawing/2014/main" val="10006"/>
                  </a:ext>
                </a:extLst>
              </a:tr>
              <a:tr h="365760">
                <a:tc>
                  <a:txBody>
                    <a:bodyPr/>
                    <a:lstStyle/>
                    <a:p>
                      <a:pPr algn="l"/>
                      <a:r>
                        <a:rPr sz="1300" b="1">
                          <a:solidFill>
                            <a:srgbClr val="0B1F3A"/>
                          </a:solidFill>
                        </a:rPr>
                        <a:t>Window functions (RANK, DENSE_RANK, AVG OVER)</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endParaRPr/>
                    </a:p>
                  </a:txBody>
                  <a:tcPr marT="15000" marB="15000" anchor="ctr">
                    <a:solidFill>
                      <a:srgbClr val="EEF2F8"/>
                    </a:solidFill>
                  </a:tcPr>
                </a:tc>
                <a:extLst>
                  <a:ext uri="{0D108BD9-81ED-4DB2-BD59-A6C34878D82A}">
                    <a16:rowId xmlns:a16="http://schemas.microsoft.com/office/drawing/2014/main" val="10007"/>
                  </a:ext>
                </a:extLst>
              </a:tr>
              <a:tr h="365760">
                <a:tc>
                  <a:txBody>
                    <a:bodyPr/>
                    <a:lstStyle/>
                    <a:p>
                      <a:pPr algn="l"/>
                      <a:r>
                        <a:rPr sz="1300" b="1">
                          <a:solidFill>
                            <a:srgbClr val="0B1F3A"/>
                          </a:solidFill>
                        </a:rPr>
                        <a:t>PERCENTILE_CONT and CORR</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extLst>
                  <a:ext uri="{0D108BD9-81ED-4DB2-BD59-A6C34878D82A}">
                    <a16:rowId xmlns:a16="http://schemas.microsoft.com/office/drawing/2014/main" val="10008"/>
                  </a:ext>
                </a:extLst>
              </a:tr>
              <a:tr h="365760">
                <a:tc>
                  <a:txBody>
                    <a:bodyPr/>
                    <a:lstStyle/>
                    <a:p>
                      <a:pPr algn="l"/>
                      <a:r>
                        <a:rPr sz="1300" b="1">
                          <a:solidFill>
                            <a:srgbClr val="0B1F3A"/>
                          </a:solidFill>
                        </a:rPr>
                        <a:t>CASE and EXTRACT</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09"/>
                  </a:ext>
                </a:extLst>
              </a:tr>
              <a:tr h="365760">
                <a:tc>
                  <a:txBody>
                    <a:bodyPr/>
                    <a:lstStyle/>
                    <a:p>
                      <a:pPr algn="l"/>
                      <a:r>
                        <a:rPr sz="1300" b="1">
                          <a:solidFill>
                            <a:srgbClr val="0B1F3A"/>
                          </a:solidFill>
                        </a:rPr>
                        <a:t>READ ONLY transaction and TEMP tables</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extLst>
                  <a:ext uri="{0D108BD9-81ED-4DB2-BD59-A6C34878D82A}">
                    <a16:rowId xmlns:a16="http://schemas.microsoft.com/office/drawing/2014/main" val="10010"/>
                  </a:ext>
                </a:extLst>
              </a:tr>
              <a:tr h="365760">
                <a:tc>
                  <a:txBody>
                    <a:bodyPr/>
                    <a:lstStyle/>
                    <a:p>
                      <a:pPr algn="l"/>
                      <a:r>
                        <a:rPr sz="1300" b="1">
                          <a:solidFill>
                            <a:srgbClr val="0B1F3A"/>
                          </a:solidFill>
                        </a:rPr>
                        <a:t>NULLIF guards on every division</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Advanced SQL, tested for performance</a:t>
            </a:r>
            <a:endParaRPr lang="en-US" sz="3200" dirty="0"/>
          </a:p>
        </p:txBody>
      </p:sp>
      <p:sp>
        <p:nvSpPr>
          <p:cNvPr id="3" name="Stat card 1"/>
          <p:cNvSpPr/>
          <p:nvPr/>
        </p:nvSpPr>
        <p:spPr>
          <a:xfrm>
            <a:off x="548640" y="164592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777240" y="178308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117 ms</a:t>
            </a:r>
            <a:endParaRPr lang="en-US" sz="4000" dirty="0"/>
          </a:p>
        </p:txBody>
      </p:sp>
      <p:sp>
        <p:nvSpPr>
          <p:cNvPr id="5" name="Text 3"/>
          <p:cNvSpPr txBox="1"/>
          <p:nvPr/>
        </p:nvSpPr>
        <p:spPr>
          <a:xfrm>
            <a:off x="777240" y="2468880"/>
            <a:ext cx="2834640" cy="457200"/>
          </a:xfrm>
          <a:prstGeom prst="rect">
            <a:avLst/>
          </a:prstGeom>
          <a:noFill/>
          <a:ln/>
        </p:spPr>
        <p:txBody>
          <a:bodyPr wrap="square" lIns="0" tIns="0" rIns="0" bIns="0" rtlCol="0" anchor="t"/>
          <a:lstStyle/>
          <a:p>
            <a:pPr marL="0" indent="0">
              <a:buNone/>
            </a:pPr>
            <a:r>
              <a:rPr lang="en-US" sz="1400" dirty="0">
                <a:solidFill>
                  <a:schemeClr val="bg1"/>
                </a:solidFill>
              </a:rPr>
              <a:t>peak vs off-peak query (4A) over 33,331 trips</a:t>
            </a:r>
            <a:endParaRPr lang="en-US" sz="1400" dirty="0"/>
          </a:p>
        </p:txBody>
      </p:sp>
      <p:sp>
        <p:nvSpPr>
          <p:cNvPr id="6" name="Stat card 2"/>
          <p:cNvSpPr/>
          <p:nvPr/>
        </p:nvSpPr>
        <p:spPr>
          <a:xfrm>
            <a:off x="548640" y="320040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7" name="Text 5"/>
          <p:cNvSpPr txBox="1"/>
          <p:nvPr/>
        </p:nvSpPr>
        <p:spPr>
          <a:xfrm>
            <a:off x="777240" y="333756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230 ms</a:t>
            </a:r>
            <a:endParaRPr lang="en-US" sz="4000" dirty="0"/>
          </a:p>
        </p:txBody>
      </p:sp>
      <p:sp>
        <p:nvSpPr>
          <p:cNvPr id="8" name="Text 6"/>
          <p:cNvSpPr txBox="1"/>
          <p:nvPr/>
        </p:nvSpPr>
        <p:spPr>
          <a:xfrm>
            <a:off x="777240" y="4023360"/>
            <a:ext cx="2834640" cy="457200"/>
          </a:xfrm>
          <a:prstGeom prst="rect">
            <a:avLst/>
          </a:prstGeom>
          <a:noFill/>
          <a:ln/>
        </p:spPr>
        <p:txBody>
          <a:bodyPr wrap="square" lIns="0" tIns="0" rIns="0" bIns="0" rtlCol="0" anchor="t"/>
          <a:lstStyle/>
          <a:p>
            <a:pPr marL="0" indent="0">
              <a:buNone/>
            </a:pPr>
            <a:r>
              <a:rPr lang="en-US" sz="1400" dirty="0">
                <a:solidFill>
                  <a:schemeClr val="bg1"/>
                </a:solidFill>
              </a:rPr>
              <a:t>peak x surge CTE query (4E), the most complex RQ4 query</a:t>
            </a:r>
            <a:endParaRPr lang="en-US" sz="1400" dirty="0"/>
          </a:p>
        </p:txBody>
      </p:sp>
      <p:sp>
        <p:nvSpPr>
          <p:cNvPr id="9" name="Stat card 3"/>
          <p:cNvSpPr/>
          <p:nvPr/>
        </p:nvSpPr>
        <p:spPr>
          <a:xfrm>
            <a:off x="548640" y="475488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10" name="Text 8"/>
          <p:cNvSpPr txBox="1"/>
          <p:nvPr/>
        </p:nvSpPr>
        <p:spPr>
          <a:xfrm>
            <a:off x="777240" y="489204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6</a:t>
            </a:r>
            <a:endParaRPr lang="en-US" sz="4000" dirty="0"/>
          </a:p>
        </p:txBody>
      </p:sp>
      <p:sp>
        <p:nvSpPr>
          <p:cNvPr id="11" name="Text 9"/>
          <p:cNvSpPr txBox="1"/>
          <p:nvPr/>
        </p:nvSpPr>
        <p:spPr>
          <a:xfrm>
            <a:off x="777240" y="5577840"/>
            <a:ext cx="2834640" cy="457200"/>
          </a:xfrm>
          <a:prstGeom prst="rect">
            <a:avLst/>
          </a:prstGeom>
          <a:noFill/>
          <a:ln/>
        </p:spPr>
        <p:txBody>
          <a:bodyPr wrap="square" lIns="0" tIns="0" rIns="0" bIns="0" rtlCol="0" anchor="t"/>
          <a:lstStyle/>
          <a:p>
            <a:pPr marL="0" indent="0">
              <a:buNone/>
            </a:pPr>
            <a:r>
              <a:rPr lang="en-US" sz="1400" dirty="0">
                <a:solidFill>
                  <a:schemeClr val="bg1"/>
                </a:solidFill>
              </a:rPr>
              <a:t>research questions, each answered by its own SQL file</a:t>
            </a:r>
            <a:endParaRPr lang="en-US" sz="1400" dirty="0"/>
          </a:p>
        </p:txBody>
      </p:sp>
      <p:sp>
        <p:nvSpPr>
          <p:cNvPr id="12" name="Decision card 1"/>
          <p:cNvSpPr/>
          <p:nvPr/>
        </p:nvSpPr>
        <p:spPr>
          <a:xfrm>
            <a:off x="4206240"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3" name="Text 11"/>
          <p:cNvSpPr txBox="1"/>
          <p:nvPr/>
        </p:nvSpPr>
        <p:spPr>
          <a:xfrm>
            <a:off x="4389120"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Joins</a:t>
            </a:r>
            <a:endParaRPr lang="en-US" sz="1600" dirty="0"/>
          </a:p>
        </p:txBody>
      </p:sp>
      <p:sp>
        <p:nvSpPr>
          <p:cNvPr id="14" name="Text 12"/>
          <p:cNvSpPr txBox="1"/>
          <p:nvPr/>
        </p:nvSpPr>
        <p:spPr>
          <a:xfrm>
            <a:off x="4389120"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Multi-table INNER JOINs plus a LEFT JOIN so no trip is dropped</a:t>
            </a:r>
            <a:endParaRPr lang="en-US" sz="1400" dirty="0"/>
          </a:p>
        </p:txBody>
      </p:sp>
      <p:sp>
        <p:nvSpPr>
          <p:cNvPr id="15" name="Decision card 2"/>
          <p:cNvSpPr/>
          <p:nvPr/>
        </p:nvSpPr>
        <p:spPr>
          <a:xfrm>
            <a:off x="8074152"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6" name="Text 14"/>
          <p:cNvSpPr txBox="1"/>
          <p:nvPr/>
        </p:nvSpPr>
        <p:spPr>
          <a:xfrm>
            <a:off x="8257032"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Aggregation</a:t>
            </a:r>
            <a:endParaRPr lang="en-US" sz="1600" dirty="0"/>
          </a:p>
        </p:txBody>
      </p:sp>
      <p:sp>
        <p:nvSpPr>
          <p:cNvPr id="17" name="Text 15"/>
          <p:cNvSpPr txBox="1"/>
          <p:nvPr/>
        </p:nvSpPr>
        <p:spPr>
          <a:xfrm>
            <a:off x="8257032"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GROUP BY with AVG, SUM, COUNT; HAVING with a scalar subquery</a:t>
            </a:r>
            <a:endParaRPr lang="en-US" sz="1400" dirty="0"/>
          </a:p>
        </p:txBody>
      </p:sp>
      <p:sp>
        <p:nvSpPr>
          <p:cNvPr id="18" name="Decision card 3"/>
          <p:cNvSpPr/>
          <p:nvPr/>
        </p:nvSpPr>
        <p:spPr>
          <a:xfrm>
            <a:off x="4206240"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9" name="Text 17"/>
          <p:cNvSpPr txBox="1"/>
          <p:nvPr/>
        </p:nvSpPr>
        <p:spPr>
          <a:xfrm>
            <a:off x="4389120"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Analytical functions</a:t>
            </a:r>
            <a:endParaRPr lang="en-US" sz="1600" dirty="0"/>
          </a:p>
        </p:txBody>
      </p:sp>
      <p:sp>
        <p:nvSpPr>
          <p:cNvPr id="20" name="Text 18"/>
          <p:cNvSpPr txBox="1"/>
          <p:nvPr/>
        </p:nvSpPr>
        <p:spPr>
          <a:xfrm>
            <a:off x="4389120"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RANK, DENSE_RANK, PERCENTILE_CONT and CORR</a:t>
            </a:r>
            <a:endParaRPr lang="en-US" sz="1400" dirty="0"/>
          </a:p>
        </p:txBody>
      </p:sp>
      <p:sp>
        <p:nvSpPr>
          <p:cNvPr id="21" name="Decision card 4"/>
          <p:cNvSpPr/>
          <p:nvPr/>
        </p:nvSpPr>
        <p:spPr>
          <a:xfrm>
            <a:off x="8074152"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2" name="Text 20"/>
          <p:cNvSpPr txBox="1"/>
          <p:nvPr/>
        </p:nvSpPr>
        <p:spPr>
          <a:xfrm>
            <a:off x="8257032"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CTEs and CASE logic</a:t>
            </a:r>
            <a:endParaRPr lang="en-US" sz="1600" dirty="0"/>
          </a:p>
        </p:txBody>
      </p:sp>
      <p:sp>
        <p:nvSpPr>
          <p:cNvPr id="23" name="Text 21"/>
          <p:cNvSpPr txBox="1"/>
          <p:nvPr/>
        </p:nvSpPr>
        <p:spPr>
          <a:xfrm>
            <a:off x="8257032"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CTEs for staged steps; CASE for bands and fuel-price matching</a:t>
            </a:r>
            <a:endParaRPr lang="en-US" sz="1400" dirty="0"/>
          </a:p>
        </p:txBody>
      </p:sp>
      <p:sp>
        <p:nvSpPr>
          <p:cNvPr id="24" name="Decision card 5"/>
          <p:cNvSpPr/>
          <p:nvPr/>
        </p:nvSpPr>
        <p:spPr>
          <a:xfrm>
            <a:off x="4206240"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5" name="Text 23"/>
          <p:cNvSpPr txBox="1"/>
          <p:nvPr/>
        </p:nvSpPr>
        <p:spPr>
          <a:xfrm>
            <a:off x="4389120"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Transactions and safety</a:t>
            </a:r>
            <a:endParaRPr lang="en-US" sz="1600" dirty="0"/>
          </a:p>
        </p:txBody>
      </p:sp>
      <p:sp>
        <p:nvSpPr>
          <p:cNvPr id="26" name="Text 24"/>
          <p:cNvSpPr txBox="1"/>
          <p:nvPr/>
        </p:nvSpPr>
        <p:spPr>
          <a:xfrm>
            <a:off x="4389120"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Read-only transactions; NULLIF guards division by zero</a:t>
            </a:r>
            <a:endParaRPr lang="en-US" sz="1400" dirty="0"/>
          </a:p>
        </p:txBody>
      </p:sp>
      <p:sp>
        <p:nvSpPr>
          <p:cNvPr id="27" name="Decision card 6"/>
          <p:cNvSpPr/>
          <p:nvPr/>
        </p:nvSpPr>
        <p:spPr>
          <a:xfrm>
            <a:off x="8074152"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8" name="Text 26"/>
          <p:cNvSpPr txBox="1"/>
          <p:nvPr/>
        </p:nvSpPr>
        <p:spPr>
          <a:xfrm>
            <a:off x="8257032"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Why sequential scans</a:t>
            </a:r>
            <a:endParaRPr lang="en-US" sz="1600" dirty="0"/>
          </a:p>
        </p:txBody>
      </p:sp>
      <p:sp>
        <p:nvSpPr>
          <p:cNvPr id="29" name="Text 27"/>
          <p:cNvSpPr txBox="1"/>
          <p:nvPr/>
        </p:nvSpPr>
        <p:spPr>
          <a:xfrm>
            <a:off x="8257032"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COMPLETED matches 67% of rows, so a full scan beat the index</a:t>
            </a:r>
            <a:endParaRPr lang="en-US" sz="1400" dirty="0"/>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RQ1–2: Bolt drivers keep about R26 more per trip than Uber drivers</a:t>
            </a:r>
            <a:endParaRPr lang="en-US" sz="3200" dirty="0"/>
          </a:p>
        </p:txBody>
      </p:sp>
      <p:graphicFrame>
        <p:nvGraphicFramePr>
          <p:cNvPr id="3" name="Chart 0"/>
          <p:cNvGraphicFramePr/>
          <p:nvPr/>
        </p:nvGraphicFramePr>
        <p:xfrm>
          <a:off x="548640" y="1554480"/>
          <a:ext cx="65836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tention panel"/>
          <p:cNvSpPr/>
          <p:nvPr/>
        </p:nvSpPr>
        <p:spPr>
          <a:xfrm>
            <a:off x="7498080" y="1645920"/>
            <a:ext cx="4142232" cy="2834640"/>
          </a:xfrm>
          <a:prstGeom prst="roundRect">
            <a:avLst>
              <a:gd name="adj" fmla="val 3871"/>
            </a:avLst>
          </a:prstGeom>
          <a:solidFill>
            <a:schemeClr val="tx2"/>
          </a:solidFill>
          <a:ln w="6350">
            <a:solidFill>
              <a:schemeClr val="tx2"/>
            </a:solidFill>
            <a:prstDash val="solid"/>
          </a:ln>
        </p:spPr>
        <p:txBody>
          <a:bodyPr/>
          <a:lstStyle/>
          <a:p>
            <a:endParaRPr lang="en-ZA"/>
          </a:p>
        </p:txBody>
      </p:sp>
      <p:sp>
        <p:nvSpPr>
          <p:cNvPr id="5" name="Text 2"/>
          <p:cNvSpPr txBox="1"/>
          <p:nvPr/>
        </p:nvSpPr>
        <p:spPr>
          <a:xfrm>
            <a:off x="7726680" y="1828800"/>
            <a:ext cx="3657600" cy="548640"/>
          </a:xfrm>
          <a:prstGeom prst="rect">
            <a:avLst/>
          </a:prstGeom>
          <a:noFill/>
          <a:ln/>
        </p:spPr>
        <p:txBody>
          <a:bodyPr wrap="square" lIns="0" tIns="0" rIns="0" bIns="0" rtlCol="0" anchor="t"/>
          <a:lstStyle/>
          <a:p>
            <a:pPr marL="0" indent="0">
              <a:buNone/>
            </a:pPr>
            <a:r>
              <a:rPr lang="en-US" sz="1400" b="1" dirty="0">
                <a:solidFill>
                  <a:schemeClr val="accent1"/>
                </a:solidFill>
              </a:rPr>
              <a:t>Share of commissionable fare the driver keeps</a:t>
            </a:r>
            <a:endParaRPr lang="en-US" sz="1400" dirty="0"/>
          </a:p>
        </p:txBody>
      </p:sp>
      <p:sp>
        <p:nvSpPr>
          <p:cNvPr id="6" name="Text 3"/>
          <p:cNvSpPr txBox="1"/>
          <p:nvPr/>
        </p:nvSpPr>
        <p:spPr>
          <a:xfrm>
            <a:off x="7726680" y="2587752"/>
            <a:ext cx="2194560" cy="365760"/>
          </a:xfrm>
          <a:prstGeom prst="rect">
            <a:avLst/>
          </a:prstGeom>
          <a:noFill/>
          <a:ln/>
        </p:spPr>
        <p:txBody>
          <a:bodyPr wrap="square" lIns="0" tIns="0" rIns="0" bIns="0" rtlCol="0" anchor="t"/>
          <a:lstStyle/>
          <a:p>
            <a:pPr marL="0" indent="0">
              <a:buNone/>
            </a:pPr>
            <a:r>
              <a:rPr lang="en-US" sz="1400" dirty="0">
                <a:solidFill>
                  <a:schemeClr val="bg1"/>
                </a:solidFill>
              </a:rPr>
              <a:t>Bolt · 20%</a:t>
            </a:r>
            <a:endParaRPr lang="en-US" sz="1400" dirty="0"/>
          </a:p>
        </p:txBody>
      </p:sp>
      <p:sp>
        <p:nvSpPr>
          <p:cNvPr id="7" name="Text 4"/>
          <p:cNvSpPr txBox="1"/>
          <p:nvPr/>
        </p:nvSpPr>
        <p:spPr>
          <a:xfrm>
            <a:off x="9875520" y="2514600"/>
            <a:ext cx="1554480" cy="502920"/>
          </a:xfrm>
          <a:prstGeom prst="rect">
            <a:avLst/>
          </a:prstGeom>
          <a:noFill/>
          <a:ln/>
        </p:spPr>
        <p:txBody>
          <a:bodyPr wrap="square" lIns="0" tIns="0" rIns="0" bIns="0" rtlCol="0" anchor="t"/>
          <a:lstStyle/>
          <a:p>
            <a:pPr marL="0" indent="0" algn="r">
              <a:buNone/>
            </a:pPr>
            <a:r>
              <a:rPr lang="en-US" sz="2600" b="1" dirty="0">
                <a:solidFill>
                  <a:schemeClr val="bg1"/>
                </a:solidFill>
              </a:rPr>
              <a:t>80.20%</a:t>
            </a:r>
            <a:endParaRPr lang="en-US" sz="2600" dirty="0"/>
          </a:p>
        </p:txBody>
      </p:sp>
      <p:sp>
        <p:nvSpPr>
          <p:cNvPr id="8" name="Text 5"/>
          <p:cNvSpPr txBox="1"/>
          <p:nvPr/>
        </p:nvSpPr>
        <p:spPr>
          <a:xfrm>
            <a:off x="7726680" y="3227832"/>
            <a:ext cx="2194560" cy="365760"/>
          </a:xfrm>
          <a:prstGeom prst="rect">
            <a:avLst/>
          </a:prstGeom>
          <a:noFill/>
          <a:ln/>
        </p:spPr>
        <p:txBody>
          <a:bodyPr wrap="square" lIns="0" tIns="0" rIns="0" bIns="0" rtlCol="0" anchor="t"/>
          <a:lstStyle/>
          <a:p>
            <a:pPr marL="0" indent="0">
              <a:buNone/>
            </a:pPr>
            <a:r>
              <a:rPr lang="en-US" sz="1400" dirty="0">
                <a:solidFill>
                  <a:schemeClr val="bg1"/>
                </a:solidFill>
              </a:rPr>
              <a:t>Dual-Platform · 22%</a:t>
            </a:r>
            <a:endParaRPr lang="en-US" sz="1400" dirty="0"/>
          </a:p>
        </p:txBody>
      </p:sp>
      <p:sp>
        <p:nvSpPr>
          <p:cNvPr id="9" name="Text 6"/>
          <p:cNvSpPr txBox="1"/>
          <p:nvPr/>
        </p:nvSpPr>
        <p:spPr>
          <a:xfrm>
            <a:off x="9875520" y="3154680"/>
            <a:ext cx="1554480" cy="502920"/>
          </a:xfrm>
          <a:prstGeom prst="rect">
            <a:avLst/>
          </a:prstGeom>
          <a:noFill/>
          <a:ln/>
        </p:spPr>
        <p:txBody>
          <a:bodyPr wrap="square" lIns="0" tIns="0" rIns="0" bIns="0" rtlCol="0" anchor="t"/>
          <a:lstStyle/>
          <a:p>
            <a:pPr marL="0" indent="0" algn="r">
              <a:buNone/>
            </a:pPr>
            <a:r>
              <a:rPr lang="en-US" sz="2600" b="1" dirty="0">
                <a:solidFill>
                  <a:schemeClr val="bg1"/>
                </a:solidFill>
              </a:rPr>
              <a:t>78.22%</a:t>
            </a:r>
            <a:endParaRPr lang="en-US" sz="2600" dirty="0"/>
          </a:p>
        </p:txBody>
      </p:sp>
      <p:sp>
        <p:nvSpPr>
          <p:cNvPr id="10" name="Text 7"/>
          <p:cNvSpPr txBox="1"/>
          <p:nvPr/>
        </p:nvSpPr>
        <p:spPr>
          <a:xfrm>
            <a:off x="7726680" y="3867912"/>
            <a:ext cx="2194560" cy="365760"/>
          </a:xfrm>
          <a:prstGeom prst="rect">
            <a:avLst/>
          </a:prstGeom>
          <a:noFill/>
          <a:ln/>
        </p:spPr>
        <p:txBody>
          <a:bodyPr wrap="square" lIns="0" tIns="0" rIns="0" bIns="0" rtlCol="0" anchor="t"/>
          <a:lstStyle/>
          <a:p>
            <a:pPr marL="0" indent="0">
              <a:buNone/>
            </a:pPr>
            <a:r>
              <a:rPr lang="en-US" sz="1400" dirty="0">
                <a:solidFill>
                  <a:schemeClr val="bg1"/>
                </a:solidFill>
              </a:rPr>
              <a:t>Uber · 25%</a:t>
            </a:r>
            <a:endParaRPr lang="en-US" sz="1400" dirty="0"/>
          </a:p>
        </p:txBody>
      </p:sp>
      <p:sp>
        <p:nvSpPr>
          <p:cNvPr id="11" name="Text 8"/>
          <p:cNvSpPr txBox="1"/>
          <p:nvPr/>
        </p:nvSpPr>
        <p:spPr>
          <a:xfrm>
            <a:off x="9875520" y="3794760"/>
            <a:ext cx="1554480" cy="502920"/>
          </a:xfrm>
          <a:prstGeom prst="rect">
            <a:avLst/>
          </a:prstGeom>
          <a:noFill/>
          <a:ln/>
        </p:spPr>
        <p:txBody>
          <a:bodyPr wrap="square" lIns="0" tIns="0" rIns="0" bIns="0" rtlCol="0" anchor="t"/>
          <a:lstStyle/>
          <a:p>
            <a:pPr marL="0" indent="0" algn="r">
              <a:buNone/>
            </a:pPr>
            <a:r>
              <a:rPr lang="en-US" sz="2600" b="1" dirty="0">
                <a:solidFill>
                  <a:schemeClr val="bg1"/>
                </a:solidFill>
              </a:rPr>
              <a:t>75.26%</a:t>
            </a:r>
            <a:endParaRPr lang="en-US" sz="2600" dirty="0"/>
          </a:p>
        </p:txBody>
      </p:sp>
      <p:sp>
        <p:nvSpPr>
          <p:cNvPr id="12" name="Text 9"/>
          <p:cNvSpPr txBox="1"/>
          <p:nvPr/>
        </p:nvSpPr>
        <p:spPr>
          <a:xfrm>
            <a:off x="7498080" y="4709160"/>
            <a:ext cx="4142232" cy="1463040"/>
          </a:xfrm>
          <a:prstGeom prst="rect">
            <a:avLst/>
          </a:prstGeom>
          <a:noFill/>
          <a:ln/>
        </p:spPr>
        <p:txBody>
          <a:bodyPr wrap="square" lIns="0" tIns="0" rIns="0" bIns="0" rtlCol="0" anchor="t"/>
          <a:lstStyle/>
          <a:p>
            <a:pPr marL="0" indent="0">
              <a:buNone/>
            </a:pPr>
            <a:r>
              <a:rPr lang="en-US" sz="1400" dirty="0">
                <a:solidFill>
                  <a:schemeClr val="tx1"/>
                </a:solidFill>
              </a:rPr>
              <a:t>The 4.94 percentage-point gap between Bolt and Uber almost exactly matches the 5-point difference in commission rate, so the commission is applied linearly to the fare excluding tips. Tips pass to the driver in full.</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RQ3: Ride category barely changes what a driver earns</a:t>
            </a:r>
            <a:endParaRPr lang="en-US" sz="3200" dirty="0"/>
          </a:p>
        </p:txBody>
      </p:sp>
      <p:graphicFrame>
        <p:nvGraphicFramePr>
          <p:cNvPr id="3" name="Chart 0"/>
          <p:cNvGraphicFramePr/>
          <p:nvPr/>
        </p:nvGraphicFramePr>
        <p:xfrm>
          <a:off x="548640" y="1554480"/>
          <a:ext cx="67665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Gap stat"/>
          <p:cNvSpPr/>
          <p:nvPr/>
        </p:nvSpPr>
        <p:spPr>
          <a:xfrm>
            <a:off x="7680960" y="1645920"/>
            <a:ext cx="3959352" cy="210312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5" name="Text 2"/>
          <p:cNvSpPr txBox="1"/>
          <p:nvPr/>
        </p:nvSpPr>
        <p:spPr>
          <a:xfrm>
            <a:off x="7909560" y="1783080"/>
            <a:ext cx="3474720" cy="822960"/>
          </a:xfrm>
          <a:prstGeom prst="rect">
            <a:avLst/>
          </a:prstGeom>
          <a:noFill/>
          <a:ln/>
        </p:spPr>
        <p:txBody>
          <a:bodyPr wrap="square" lIns="0" tIns="0" rIns="0" bIns="0" rtlCol="0" anchor="t"/>
          <a:lstStyle/>
          <a:p>
            <a:pPr marL="0" indent="0">
              <a:buNone/>
            </a:pPr>
            <a:r>
              <a:rPr lang="en-US" sz="4800" b="1" dirty="0">
                <a:solidFill>
                  <a:schemeClr val="accent1"/>
                </a:solidFill>
              </a:rPr>
              <a:t>R4.10</a:t>
            </a:r>
            <a:endParaRPr lang="en-US" sz="4800" dirty="0"/>
          </a:p>
        </p:txBody>
      </p:sp>
      <p:sp>
        <p:nvSpPr>
          <p:cNvPr id="6" name="Text 3"/>
          <p:cNvSpPr txBox="1"/>
          <p:nvPr/>
        </p:nvSpPr>
        <p:spPr>
          <a:xfrm>
            <a:off x="7909560" y="2697480"/>
            <a:ext cx="3520440" cy="914400"/>
          </a:xfrm>
          <a:prstGeom prst="rect">
            <a:avLst/>
          </a:prstGeom>
          <a:noFill/>
          <a:ln/>
        </p:spPr>
        <p:txBody>
          <a:bodyPr wrap="square" lIns="0" tIns="0" rIns="0" bIns="0" rtlCol="0" anchor="t"/>
          <a:lstStyle/>
          <a:p>
            <a:pPr marL="0" indent="0">
              <a:buNone/>
            </a:pPr>
            <a:r>
              <a:rPr lang="en-US" sz="1400" dirty="0">
                <a:solidFill>
                  <a:schemeClr val="bg1"/>
                </a:solidFill>
              </a:rPr>
              <a:t>gap between the best category (Standard) and the worst (Comfort)</a:t>
            </a:r>
            <a:endParaRPr lang="en-US" sz="1400" dirty="0"/>
          </a:p>
        </p:txBody>
      </p:sp>
      <p:sp>
        <p:nvSpPr>
          <p:cNvPr id="7" name="Ratio stat"/>
          <p:cNvSpPr/>
          <p:nvPr/>
        </p:nvSpPr>
        <p:spPr>
          <a:xfrm>
            <a:off x="7680960" y="3931920"/>
            <a:ext cx="3959352" cy="210312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8" name="Text 5"/>
          <p:cNvSpPr txBox="1"/>
          <p:nvPr/>
        </p:nvSpPr>
        <p:spPr>
          <a:xfrm>
            <a:off x="7909560" y="4069080"/>
            <a:ext cx="3474720" cy="822960"/>
          </a:xfrm>
          <a:prstGeom prst="rect">
            <a:avLst/>
          </a:prstGeom>
          <a:noFill/>
          <a:ln/>
        </p:spPr>
        <p:txBody>
          <a:bodyPr wrap="square" lIns="0" tIns="0" rIns="0" bIns="0" rtlCol="0" anchor="t"/>
          <a:lstStyle/>
          <a:p>
            <a:pPr marL="0" indent="0">
              <a:buNone/>
            </a:pPr>
            <a:r>
              <a:rPr lang="en-US" sz="4800" b="1" dirty="0">
                <a:solidFill>
                  <a:schemeClr val="accent1"/>
                </a:solidFill>
              </a:rPr>
              <a:t>≈79%</a:t>
            </a:r>
            <a:endParaRPr lang="en-US" sz="4800" dirty="0"/>
          </a:p>
        </p:txBody>
      </p:sp>
      <p:sp>
        <p:nvSpPr>
          <p:cNvPr id="9" name="Text 6"/>
          <p:cNvSpPr txBox="1"/>
          <p:nvPr/>
        </p:nvSpPr>
        <p:spPr>
          <a:xfrm>
            <a:off x="7909560" y="4983480"/>
            <a:ext cx="3520440" cy="914400"/>
          </a:xfrm>
          <a:prstGeom prst="rect">
            <a:avLst/>
          </a:prstGeom>
          <a:noFill/>
          <a:ln/>
        </p:spPr>
        <p:txBody>
          <a:bodyPr wrap="square" lIns="0" tIns="0" rIns="0" bIns="0" rtlCol="0" anchor="t"/>
          <a:lstStyle/>
          <a:p>
            <a:pPr marL="0" indent="0">
              <a:buNone/>
            </a:pPr>
            <a:r>
              <a:rPr lang="en-US" sz="1400" dirty="0">
                <a:solidFill>
                  <a:schemeClr val="bg1"/>
                </a:solidFill>
              </a:rPr>
              <a:t>of the fare reaches the driver in every category (78.87%–78.92% average trip ratio)</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RQ4: Distance and surge drive payout; tips barely register</a:t>
            </a:r>
            <a:endParaRPr lang="en-US" sz="3200" dirty="0"/>
          </a:p>
        </p:txBody>
      </p:sp>
      <p:graphicFrame>
        <p:nvGraphicFramePr>
          <p:cNvPr id="3" name="Chart 0"/>
          <p:cNvGraphicFramePr/>
          <p:nvPr/>
        </p:nvGraphicFramePr>
        <p:xfrm>
          <a:off x="548640" y="1508760"/>
          <a:ext cx="548640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6309360" y="1508760"/>
          <a:ext cx="5330952"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5" name="RQ4 takeaway"/>
          <p:cNvSpPr/>
          <p:nvPr/>
        </p:nvSpPr>
        <p:spPr>
          <a:xfrm>
            <a:off x="548640" y="5486400"/>
            <a:ext cx="11091672" cy="777240"/>
          </a:xfrm>
          <a:prstGeom prst="roundRect">
            <a:avLst>
              <a:gd name="adj" fmla="val 14118"/>
            </a:avLst>
          </a:prstGeom>
          <a:solidFill>
            <a:schemeClr val="bg2"/>
          </a:solidFill>
          <a:ln w="6350">
            <a:solidFill>
              <a:schemeClr val="bg2"/>
            </a:solidFill>
            <a:prstDash val="solid"/>
          </a:ln>
        </p:spPr>
        <p:txBody>
          <a:bodyPr/>
          <a:lstStyle/>
          <a:p>
            <a:endParaRPr lang="en-ZA"/>
          </a:p>
        </p:txBody>
      </p:sp>
      <p:sp>
        <p:nvSpPr>
          <p:cNvPr id="6" name="Text 2"/>
          <p:cNvSpPr txBox="1"/>
          <p:nvPr/>
        </p:nvSpPr>
        <p:spPr>
          <a:xfrm>
            <a:off x="731520" y="5559552"/>
            <a:ext cx="10725912" cy="640080"/>
          </a:xfrm>
          <a:prstGeom prst="rect">
            <a:avLst/>
          </a:prstGeom>
          <a:noFill/>
          <a:ln/>
        </p:spPr>
        <p:txBody>
          <a:bodyPr wrap="square" lIns="0" tIns="0" rIns="0" bIns="0" rtlCol="0" anchor="ctr"/>
          <a:lstStyle/>
          <a:p>
            <a:pPr marL="0" indent="0">
              <a:buNone/>
            </a:pPr>
            <a:r>
              <a:rPr lang="en-US" sz="1400" dirty="0">
                <a:solidFill>
                  <a:schemeClr val="tx1"/>
                </a:solidFill>
              </a:rPr>
              <a:t>Peak trips pay R482.20 against R324.33 off-peak, mostly because average surge is 1.71 against 1.13. Longer trips pay more in total, but short trips pay more per hour: R451 under 15 minutes, R286 over 60.</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RQ4 proof: surge, not the clock, lifts peak pay</a:t>
            </a:r>
          </a:p>
        </p:txBody>
      </p:sp>
      <p:pic>
        <p:nvPicPr>
          <p:cNvPr id="3" name="Picture 2" descr="4E_peak_x_surge.png"/>
          <p:cNvPicPr>
            <a:picLocks noChangeAspect="1"/>
          </p:cNvPicPr>
          <p:nvPr/>
        </p:nvPicPr>
        <p:blipFill>
          <a:blip r:embed="rId3"/>
          <a:stretch>
            <a:fillRect/>
          </a:stretch>
        </p:blipFill>
        <p:spPr>
          <a:xfrm>
            <a:off x="548640" y="1371600"/>
            <a:ext cx="11064240" cy="4425695"/>
          </a:xfrm>
          <a:prstGeom prst="rect">
            <a:avLst/>
          </a:prstGeom>
        </p:spPr>
      </p:pic>
      <p:sp>
        <p:nvSpPr>
          <p:cNvPr id="4" name="TextBox 3"/>
          <p:cNvSpPr txBox="1"/>
          <p:nvPr/>
        </p:nvSpPr>
        <p:spPr>
          <a:xfrm>
            <a:off x="548640" y="5897880"/>
            <a:ext cx="11064240" cy="640080"/>
          </a:xfrm>
          <a:prstGeom prst="rect">
            <a:avLst/>
          </a:prstGeom>
          <a:noFill/>
        </p:spPr>
        <p:txBody>
          <a:bodyPr wrap="square">
            <a:spAutoFit/>
          </a:bodyPr>
          <a:lstStyle/>
          <a:p>
            <a:r>
              <a:rPr sz="1500" b="1">
                <a:solidFill>
                  <a:srgbClr val="0B1F3A"/>
                </a:solidFill>
              </a:rPr>
              <a:t>72% of peak trips are medium or high surge, against 14% of off-peak trips. Within the same surge band, peak and off-peak payouts are almost identical.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RQ5: City beats category, and Cape Town takes the top four spots</a:t>
            </a:r>
            <a:endParaRPr lang="en-US" sz="3200" dirty="0"/>
          </a:p>
        </p:txBody>
      </p:sp>
      <p:sp>
        <p:nvSpPr>
          <p:cNvPr id="3" name="Winner card 1"/>
          <p:cNvSpPr/>
          <p:nvPr/>
        </p:nvSpPr>
        <p:spPr>
          <a:xfrm>
            <a:off x="548640" y="1417320"/>
            <a:ext cx="3493008" cy="137160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777240" y="1481328"/>
            <a:ext cx="3017520" cy="320040"/>
          </a:xfrm>
          <a:prstGeom prst="rect">
            <a:avLst/>
          </a:prstGeom>
          <a:noFill/>
          <a:ln/>
        </p:spPr>
        <p:txBody>
          <a:bodyPr wrap="square" lIns="0" tIns="0" rIns="0" bIns="0" rtlCol="0" anchor="t"/>
          <a:lstStyle/>
          <a:p>
            <a:pPr marL="0" indent="0">
              <a:buNone/>
            </a:pPr>
            <a:r>
              <a:rPr lang="en-US" sz="1400" b="1" dirty="0">
                <a:solidFill>
                  <a:schemeClr val="accent6"/>
                </a:solidFill>
              </a:rPr>
              <a:t>Highest payout per trip</a:t>
            </a:r>
            <a:endParaRPr lang="en-US" sz="1400" dirty="0"/>
          </a:p>
        </p:txBody>
      </p:sp>
      <p:sp>
        <p:nvSpPr>
          <p:cNvPr id="5" name="Text 3"/>
          <p:cNvSpPr txBox="1"/>
          <p:nvPr/>
        </p:nvSpPr>
        <p:spPr>
          <a:xfrm>
            <a:off x="777240" y="1783080"/>
            <a:ext cx="3017520" cy="594360"/>
          </a:xfrm>
          <a:prstGeom prst="rect">
            <a:avLst/>
          </a:prstGeom>
          <a:noFill/>
          <a:ln/>
        </p:spPr>
        <p:txBody>
          <a:bodyPr wrap="square" lIns="0" tIns="0" rIns="0" bIns="0" rtlCol="0" anchor="t"/>
          <a:lstStyle/>
          <a:p>
            <a:pPr marL="0" indent="0">
              <a:buNone/>
            </a:pPr>
            <a:r>
              <a:rPr lang="en-US" sz="4400" b="1" dirty="0">
                <a:solidFill>
                  <a:schemeClr val="accent1"/>
                </a:solidFill>
              </a:rPr>
              <a:t>R456.41</a:t>
            </a:r>
            <a:endParaRPr lang="en-US" sz="4400" dirty="0"/>
          </a:p>
        </p:txBody>
      </p:sp>
      <p:sp>
        <p:nvSpPr>
          <p:cNvPr id="6" name="Text 4"/>
          <p:cNvSpPr txBox="1"/>
          <p:nvPr/>
        </p:nvSpPr>
        <p:spPr>
          <a:xfrm>
            <a:off x="777240" y="2377440"/>
            <a:ext cx="3017520" cy="457200"/>
          </a:xfrm>
          <a:prstGeom prst="rect">
            <a:avLst/>
          </a:prstGeom>
          <a:noFill/>
          <a:ln/>
        </p:spPr>
        <p:txBody>
          <a:bodyPr wrap="square" lIns="0" tIns="0" rIns="0" bIns="0" rtlCol="0" anchor="t"/>
          <a:lstStyle/>
          <a:p>
            <a:pPr marL="0" indent="0">
              <a:buNone/>
            </a:pPr>
            <a:r>
              <a:rPr lang="en-US" sz="1400" dirty="0">
                <a:solidFill>
                  <a:schemeClr val="bg1"/>
                </a:solidFill>
              </a:rPr>
              <a:t>Cape Town · Budget (1,297 trips)</a:t>
            </a:r>
            <a:endParaRPr lang="en-US" sz="1400" dirty="0"/>
          </a:p>
        </p:txBody>
      </p:sp>
      <p:sp>
        <p:nvSpPr>
          <p:cNvPr id="7" name="Winner card 2"/>
          <p:cNvSpPr/>
          <p:nvPr/>
        </p:nvSpPr>
        <p:spPr>
          <a:xfrm>
            <a:off x="4347972" y="1417320"/>
            <a:ext cx="3493008" cy="137160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8" name="Text 6"/>
          <p:cNvSpPr txBox="1"/>
          <p:nvPr/>
        </p:nvSpPr>
        <p:spPr>
          <a:xfrm>
            <a:off x="4576572" y="1481328"/>
            <a:ext cx="3017520" cy="320040"/>
          </a:xfrm>
          <a:prstGeom prst="rect">
            <a:avLst/>
          </a:prstGeom>
          <a:noFill/>
          <a:ln/>
        </p:spPr>
        <p:txBody>
          <a:bodyPr wrap="square" lIns="0" tIns="0" rIns="0" bIns="0" rtlCol="0" anchor="t"/>
          <a:lstStyle/>
          <a:p>
            <a:pPr marL="0" indent="0">
              <a:buNone/>
            </a:pPr>
            <a:r>
              <a:rPr lang="en-US" sz="1400" b="1" dirty="0">
                <a:solidFill>
                  <a:schemeClr val="accent6"/>
                </a:solidFill>
              </a:rPr>
              <a:t>Highest payout per km</a:t>
            </a:r>
            <a:endParaRPr lang="en-US" sz="1400" dirty="0"/>
          </a:p>
        </p:txBody>
      </p:sp>
      <p:sp>
        <p:nvSpPr>
          <p:cNvPr id="9" name="Text 7"/>
          <p:cNvSpPr txBox="1"/>
          <p:nvPr/>
        </p:nvSpPr>
        <p:spPr>
          <a:xfrm>
            <a:off x="4576572" y="1783080"/>
            <a:ext cx="3017520" cy="594360"/>
          </a:xfrm>
          <a:prstGeom prst="rect">
            <a:avLst/>
          </a:prstGeom>
          <a:noFill/>
          <a:ln/>
        </p:spPr>
        <p:txBody>
          <a:bodyPr wrap="square" lIns="0" tIns="0" rIns="0" bIns="0" rtlCol="0" anchor="t"/>
          <a:lstStyle/>
          <a:p>
            <a:pPr marL="0" indent="0">
              <a:buNone/>
            </a:pPr>
            <a:r>
              <a:rPr lang="en-US" sz="4400" b="1" dirty="0">
                <a:solidFill>
                  <a:schemeClr val="accent1"/>
                </a:solidFill>
              </a:rPr>
              <a:t>R20.71</a:t>
            </a:r>
            <a:endParaRPr lang="en-US" sz="4400" dirty="0"/>
          </a:p>
        </p:txBody>
      </p:sp>
      <p:sp>
        <p:nvSpPr>
          <p:cNvPr id="10" name="Text 8"/>
          <p:cNvSpPr txBox="1"/>
          <p:nvPr/>
        </p:nvSpPr>
        <p:spPr>
          <a:xfrm>
            <a:off x="4576572" y="2377440"/>
            <a:ext cx="3017520" cy="457200"/>
          </a:xfrm>
          <a:prstGeom prst="rect">
            <a:avLst/>
          </a:prstGeom>
          <a:noFill/>
          <a:ln/>
        </p:spPr>
        <p:txBody>
          <a:bodyPr wrap="square" lIns="0" tIns="0" rIns="0" bIns="0" rtlCol="0" anchor="t"/>
          <a:lstStyle/>
          <a:p>
            <a:pPr marL="0" indent="0">
              <a:buNone/>
            </a:pPr>
            <a:r>
              <a:rPr lang="en-US" sz="1400" dirty="0">
                <a:solidFill>
                  <a:schemeClr val="bg1"/>
                </a:solidFill>
              </a:rPr>
              <a:t>Cape Town · Large Capacity</a:t>
            </a:r>
            <a:endParaRPr lang="en-US" sz="1400" dirty="0"/>
          </a:p>
        </p:txBody>
      </p:sp>
      <p:sp>
        <p:nvSpPr>
          <p:cNvPr id="11" name="Winner card 3"/>
          <p:cNvSpPr/>
          <p:nvPr/>
        </p:nvSpPr>
        <p:spPr>
          <a:xfrm>
            <a:off x="8147304" y="1417320"/>
            <a:ext cx="3493008" cy="137160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12" name="Text 10"/>
          <p:cNvSpPr txBox="1"/>
          <p:nvPr/>
        </p:nvSpPr>
        <p:spPr>
          <a:xfrm>
            <a:off x="8375904" y="1481328"/>
            <a:ext cx="3017520" cy="320040"/>
          </a:xfrm>
          <a:prstGeom prst="rect">
            <a:avLst/>
          </a:prstGeom>
          <a:noFill/>
          <a:ln/>
        </p:spPr>
        <p:txBody>
          <a:bodyPr wrap="square" lIns="0" tIns="0" rIns="0" bIns="0" rtlCol="0" anchor="t"/>
          <a:lstStyle/>
          <a:p>
            <a:pPr marL="0" indent="0">
              <a:buNone/>
            </a:pPr>
            <a:r>
              <a:rPr lang="en-US" sz="1400" b="1" dirty="0">
                <a:solidFill>
                  <a:schemeClr val="accent6"/>
                </a:solidFill>
              </a:rPr>
              <a:t>Highest payout per hour</a:t>
            </a:r>
            <a:endParaRPr lang="en-US" sz="1400" dirty="0"/>
          </a:p>
        </p:txBody>
      </p:sp>
      <p:sp>
        <p:nvSpPr>
          <p:cNvPr id="13" name="Text 11"/>
          <p:cNvSpPr txBox="1"/>
          <p:nvPr/>
        </p:nvSpPr>
        <p:spPr>
          <a:xfrm>
            <a:off x="8375904" y="1783080"/>
            <a:ext cx="3017520" cy="594360"/>
          </a:xfrm>
          <a:prstGeom prst="rect">
            <a:avLst/>
          </a:prstGeom>
          <a:noFill/>
          <a:ln/>
        </p:spPr>
        <p:txBody>
          <a:bodyPr wrap="square" lIns="0" tIns="0" rIns="0" bIns="0" rtlCol="0" anchor="t"/>
          <a:lstStyle/>
          <a:p>
            <a:pPr marL="0" indent="0">
              <a:buNone/>
            </a:pPr>
            <a:r>
              <a:rPr lang="en-US" sz="4400" b="1" dirty="0">
                <a:solidFill>
                  <a:schemeClr val="accent1"/>
                </a:solidFill>
              </a:rPr>
              <a:t>R375.86</a:t>
            </a:r>
            <a:endParaRPr lang="en-US" sz="4400" dirty="0"/>
          </a:p>
        </p:txBody>
      </p:sp>
      <p:sp>
        <p:nvSpPr>
          <p:cNvPr id="14" name="Text 12"/>
          <p:cNvSpPr txBox="1"/>
          <p:nvPr/>
        </p:nvSpPr>
        <p:spPr>
          <a:xfrm>
            <a:off x="8375904" y="2377440"/>
            <a:ext cx="3017520" cy="457200"/>
          </a:xfrm>
          <a:prstGeom prst="rect">
            <a:avLst/>
          </a:prstGeom>
          <a:noFill/>
          <a:ln/>
        </p:spPr>
        <p:txBody>
          <a:bodyPr wrap="square" lIns="0" tIns="0" rIns="0" bIns="0" rtlCol="0" anchor="t"/>
          <a:lstStyle/>
          <a:p>
            <a:pPr marL="0" indent="0">
              <a:buNone/>
            </a:pPr>
            <a:r>
              <a:rPr lang="en-US" sz="1400" dirty="0">
                <a:solidFill>
                  <a:schemeClr val="bg1"/>
                </a:solidFill>
              </a:rPr>
              <a:t>Cape Town · Large Capacity</a:t>
            </a:r>
            <a:endParaRPr lang="en-US" sz="1400" dirty="0"/>
          </a:p>
        </p:txBody>
      </p:sp>
      <p:sp>
        <p:nvSpPr>
          <p:cNvPr id="22" name="Text 20"/>
          <p:cNvSpPr txBox="1"/>
          <p:nvPr/>
        </p:nvSpPr>
        <p:spPr>
          <a:xfrm>
            <a:off x="548640" y="5760720"/>
            <a:ext cx="11091672" cy="640080"/>
          </a:xfrm>
          <a:prstGeom prst="rect">
            <a:avLst/>
          </a:prstGeom>
          <a:noFill/>
          <a:ln/>
        </p:spPr>
        <p:txBody>
          <a:bodyPr wrap="square" lIns="0" tIns="0" rIns="0" bIns="0" rtlCol="0" anchor="t"/>
          <a:lstStyle/>
          <a:p>
            <a:pPr marL="0" indent="0">
              <a:buNone/>
            </a:pPr>
            <a:r>
              <a:rPr lang="en-US" sz="1400" dirty="0">
                <a:solidFill>
                  <a:schemeClr val="tx1"/>
                </a:solidFill>
              </a:rPr>
              <a:t>Average payout per completed trip. Cape Town's lowest cell (R442.38) beats Johannesburg's highest (R419.39), so the city matters more than the category.</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15</a:t>
            </a:fld>
            <a:endParaRPr lang="en-US"/>
          </a:p>
        </p:txBody>
      </p:sp>
      <p:graphicFrame>
        <p:nvGraphicFramePr>
          <p:cNvPr id="26" name="Table 25"/>
          <p:cNvGraphicFramePr>
            <a:graphicFrameLocks noGrp="1"/>
          </p:cNvGraphicFramePr>
          <p:nvPr/>
        </p:nvGraphicFramePr>
        <p:xfrm>
          <a:off x="548640" y="2926080"/>
          <a:ext cx="11091672" cy="267004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087118">
                  <a:extLst>
                    <a:ext uri="{9D8B030D-6E8A-4147-A177-3AD203B41FA5}">
                      <a16:colId xmlns:a16="http://schemas.microsoft.com/office/drawing/2014/main" val="20001"/>
                    </a:ext>
                  </a:extLst>
                </a:gridCol>
                <a:gridCol w="2087118">
                  <a:extLst>
                    <a:ext uri="{9D8B030D-6E8A-4147-A177-3AD203B41FA5}">
                      <a16:colId xmlns:a16="http://schemas.microsoft.com/office/drawing/2014/main" val="20002"/>
                    </a:ext>
                  </a:extLst>
                </a:gridCol>
                <a:gridCol w="2087118">
                  <a:extLst>
                    <a:ext uri="{9D8B030D-6E8A-4147-A177-3AD203B41FA5}">
                      <a16:colId xmlns:a16="http://schemas.microsoft.com/office/drawing/2014/main" val="20003"/>
                    </a:ext>
                  </a:extLst>
                </a:gridCol>
                <a:gridCol w="2087118">
                  <a:extLst>
                    <a:ext uri="{9D8B030D-6E8A-4147-A177-3AD203B41FA5}">
                      <a16:colId xmlns:a16="http://schemas.microsoft.com/office/drawing/2014/main" val="20004"/>
                    </a:ext>
                  </a:extLst>
                </a:gridCol>
              </a:tblGrid>
              <a:tr h="365760">
                <a:tc>
                  <a:txBody>
                    <a:bodyPr/>
                    <a:lstStyle/>
                    <a:p>
                      <a:pPr algn="l"/>
                      <a:r>
                        <a:rPr sz="1300" b="1">
                          <a:solidFill>
                            <a:srgbClr val="FFFFFF"/>
                          </a:solidFill>
                        </a:rPr>
                        <a:t>City</a:t>
                      </a:r>
                    </a:p>
                  </a:txBody>
                  <a:tcPr marL="60000" marR="60000" marT="20000" marB="20000" anchor="ctr">
                    <a:solidFill>
                      <a:srgbClr val="0B1F3A"/>
                    </a:solidFill>
                  </a:tcPr>
                </a:tc>
                <a:tc>
                  <a:txBody>
                    <a:bodyPr/>
                    <a:lstStyle/>
                    <a:p>
                      <a:pPr algn="ctr"/>
                      <a:r>
                        <a:rPr sz="1300" b="1">
                          <a:solidFill>
                            <a:srgbClr val="FFFFFF"/>
                          </a:solidFill>
                        </a:rPr>
                        <a:t>Budget</a:t>
                      </a:r>
                    </a:p>
                  </a:txBody>
                  <a:tcPr marL="60000" marR="60000" marT="20000" marB="20000" anchor="ctr">
                    <a:solidFill>
                      <a:srgbClr val="0B1F3A"/>
                    </a:solidFill>
                  </a:tcPr>
                </a:tc>
                <a:tc>
                  <a:txBody>
                    <a:bodyPr/>
                    <a:lstStyle/>
                    <a:p>
                      <a:pPr algn="ctr"/>
                      <a:r>
                        <a:rPr sz="1300" b="1">
                          <a:solidFill>
                            <a:srgbClr val="FFFFFF"/>
                          </a:solidFill>
                        </a:rPr>
                        <a:t>Standard</a:t>
                      </a:r>
                    </a:p>
                  </a:txBody>
                  <a:tcPr marL="60000" marR="60000" marT="20000" marB="20000" anchor="ctr">
                    <a:solidFill>
                      <a:srgbClr val="0B1F3A"/>
                    </a:solidFill>
                  </a:tcPr>
                </a:tc>
                <a:tc>
                  <a:txBody>
                    <a:bodyPr/>
                    <a:lstStyle/>
                    <a:p>
                      <a:pPr algn="ctr"/>
                      <a:r>
                        <a:rPr sz="1300" b="1">
                          <a:solidFill>
                            <a:srgbClr val="FFFFFF"/>
                          </a:solidFill>
                        </a:rPr>
                        <a:t>Comfort</a:t>
                      </a:r>
                    </a:p>
                  </a:txBody>
                  <a:tcPr marL="60000" marR="60000" marT="20000" marB="20000" anchor="ctr">
                    <a:solidFill>
                      <a:srgbClr val="0B1F3A"/>
                    </a:solidFill>
                  </a:tcPr>
                </a:tc>
                <a:tc>
                  <a:txBody>
                    <a:bodyPr/>
                    <a:lstStyle/>
                    <a:p>
                      <a:pPr algn="ctr"/>
                      <a:r>
                        <a:rPr sz="1300" b="1">
                          <a:solidFill>
                            <a:srgbClr val="FFFFFF"/>
                          </a:solidFill>
                        </a:rPr>
                        <a:t>Large Capacity</a:t>
                      </a:r>
                    </a:p>
                  </a:txBody>
                  <a:tcPr marL="60000" marR="60000" marT="20000" marB="20000" anchor="ctr">
                    <a:solidFill>
                      <a:srgbClr val="0B1F3A"/>
                    </a:solidFill>
                  </a:tcPr>
                </a:tc>
                <a:extLst>
                  <a:ext uri="{0D108BD9-81ED-4DB2-BD59-A6C34878D82A}">
                    <a16:rowId xmlns:a16="http://schemas.microsoft.com/office/drawing/2014/main" val="10000"/>
                  </a:ext>
                </a:extLst>
              </a:tr>
              <a:tr h="329184">
                <a:tc>
                  <a:txBody>
                    <a:bodyPr/>
                    <a:lstStyle/>
                    <a:p>
                      <a:pPr algn="l"/>
                      <a:r>
                        <a:rPr sz="1300" b="1">
                          <a:solidFill>
                            <a:srgbClr val="0B1F3A"/>
                          </a:solidFill>
                        </a:rPr>
                        <a:t>Cape Town</a:t>
                      </a:r>
                    </a:p>
                  </a:txBody>
                  <a:tcPr marL="60000" marR="60000" marT="20000" marB="20000" anchor="ctr">
                    <a:solidFill>
                      <a:srgbClr val="EEF2F8"/>
                    </a:solidFill>
                  </a:tcPr>
                </a:tc>
                <a:tc>
                  <a:txBody>
                    <a:bodyPr/>
                    <a:lstStyle/>
                    <a:p>
                      <a:pPr algn="ctr"/>
                      <a:r>
                        <a:rPr sz="1300" b="1">
                          <a:solidFill>
                            <a:srgbClr val="FFFFFF"/>
                          </a:solidFill>
                        </a:rPr>
                        <a:t>R456.41</a:t>
                      </a:r>
                    </a:p>
                  </a:txBody>
                  <a:tcPr marL="60000" marR="60000" marT="20000" marB="20000" anchor="ctr">
                    <a:solidFill>
                      <a:srgbClr val="1F3A6B"/>
                    </a:solidFill>
                  </a:tcPr>
                </a:tc>
                <a:tc>
                  <a:txBody>
                    <a:bodyPr/>
                    <a:lstStyle/>
                    <a:p>
                      <a:pPr algn="ctr"/>
                      <a:r>
                        <a:rPr sz="1300" b="1">
                          <a:solidFill>
                            <a:srgbClr val="FFFFFF"/>
                          </a:solidFill>
                        </a:rPr>
                        <a:t>R443.77</a:t>
                      </a:r>
                    </a:p>
                  </a:txBody>
                  <a:tcPr marL="60000" marR="60000" marT="20000" marB="20000" anchor="ctr">
                    <a:solidFill>
                      <a:srgbClr val="2F4975"/>
                    </a:solidFill>
                  </a:tcPr>
                </a:tc>
                <a:tc>
                  <a:txBody>
                    <a:bodyPr/>
                    <a:lstStyle/>
                    <a:p>
                      <a:pPr algn="ctr"/>
                      <a:r>
                        <a:rPr sz="1300" b="1">
                          <a:solidFill>
                            <a:srgbClr val="FFFFFF"/>
                          </a:solidFill>
                        </a:rPr>
                        <a:t>R442.38</a:t>
                      </a:r>
                    </a:p>
                  </a:txBody>
                  <a:tcPr marL="60000" marR="60000" marT="20000" marB="20000" anchor="ctr">
                    <a:solidFill>
                      <a:srgbClr val="304A77"/>
                    </a:solidFill>
                  </a:tcPr>
                </a:tc>
                <a:tc>
                  <a:txBody>
                    <a:bodyPr/>
                    <a:lstStyle/>
                    <a:p>
                      <a:pPr algn="ctr"/>
                      <a:r>
                        <a:rPr sz="1300" b="1">
                          <a:solidFill>
                            <a:srgbClr val="FFFFFF"/>
                          </a:solidFill>
                        </a:rPr>
                        <a:t>R449.28</a:t>
                      </a:r>
                    </a:p>
                  </a:txBody>
                  <a:tcPr marL="60000" marR="60000" marT="20000" marB="20000" anchor="ctr">
                    <a:solidFill>
                      <a:srgbClr val="284271"/>
                    </a:solidFill>
                  </a:tcPr>
                </a:tc>
                <a:extLst>
                  <a:ext uri="{0D108BD9-81ED-4DB2-BD59-A6C34878D82A}">
                    <a16:rowId xmlns:a16="http://schemas.microsoft.com/office/drawing/2014/main" val="10001"/>
                  </a:ext>
                </a:extLst>
              </a:tr>
              <a:tr h="329184">
                <a:tc>
                  <a:txBody>
                    <a:bodyPr/>
                    <a:lstStyle/>
                    <a:p>
                      <a:pPr algn="l"/>
                      <a:r>
                        <a:rPr sz="1300" b="1">
                          <a:solidFill>
                            <a:srgbClr val="0B1F3A"/>
                          </a:solidFill>
                        </a:rPr>
                        <a:t>Johannesburg</a:t>
                      </a:r>
                    </a:p>
                  </a:txBody>
                  <a:tcPr marL="60000" marR="60000" marT="20000" marB="20000" anchor="ctr">
                    <a:solidFill>
                      <a:srgbClr val="EEF2F8"/>
                    </a:solidFill>
                  </a:tcPr>
                </a:tc>
                <a:tc>
                  <a:txBody>
                    <a:bodyPr/>
                    <a:lstStyle/>
                    <a:p>
                      <a:pPr algn="ctr"/>
                      <a:r>
                        <a:rPr sz="1300" b="1">
                          <a:solidFill>
                            <a:srgbClr val="FFFFFF"/>
                          </a:solidFill>
                        </a:rPr>
                        <a:t>R400.02</a:t>
                      </a:r>
                    </a:p>
                  </a:txBody>
                  <a:tcPr marL="60000" marR="60000" marT="20000" marB="20000" anchor="ctr">
                    <a:solidFill>
                      <a:srgbClr val="667D9B"/>
                    </a:solidFill>
                  </a:tcPr>
                </a:tc>
                <a:tc>
                  <a:txBody>
                    <a:bodyPr/>
                    <a:lstStyle/>
                    <a:p>
                      <a:pPr algn="ctr"/>
                      <a:r>
                        <a:rPr sz="1300" b="1">
                          <a:solidFill>
                            <a:srgbClr val="FFFFFF"/>
                          </a:solidFill>
                        </a:rPr>
                        <a:t>R419.39</a:t>
                      </a:r>
                    </a:p>
                  </a:txBody>
                  <a:tcPr marL="60000" marR="60000" marT="20000" marB="20000" anchor="ctr">
                    <a:solidFill>
                      <a:srgbClr val="4E668A"/>
                    </a:solidFill>
                  </a:tcPr>
                </a:tc>
                <a:tc>
                  <a:txBody>
                    <a:bodyPr/>
                    <a:lstStyle/>
                    <a:p>
                      <a:pPr algn="ctr"/>
                      <a:r>
                        <a:rPr sz="1300" b="1">
                          <a:solidFill>
                            <a:srgbClr val="FFFFFF"/>
                          </a:solidFill>
                        </a:rPr>
                        <a:t>R402.89</a:t>
                      </a:r>
                    </a:p>
                  </a:txBody>
                  <a:tcPr marL="60000" marR="60000" marT="20000" marB="20000" anchor="ctr">
                    <a:solidFill>
                      <a:srgbClr val="637998"/>
                    </a:solidFill>
                  </a:tcPr>
                </a:tc>
                <a:tc>
                  <a:txBody>
                    <a:bodyPr/>
                    <a:lstStyle/>
                    <a:p>
                      <a:pPr algn="ctr"/>
                      <a:r>
                        <a:rPr sz="1300" b="1">
                          <a:solidFill>
                            <a:srgbClr val="FFFFFF"/>
                          </a:solidFill>
                        </a:rPr>
                        <a:t>R409.34</a:t>
                      </a:r>
                    </a:p>
                  </a:txBody>
                  <a:tcPr marL="60000" marR="60000" marT="20000" marB="20000" anchor="ctr">
                    <a:solidFill>
                      <a:srgbClr val="5B7293"/>
                    </a:solidFill>
                  </a:tcPr>
                </a:tc>
                <a:extLst>
                  <a:ext uri="{0D108BD9-81ED-4DB2-BD59-A6C34878D82A}">
                    <a16:rowId xmlns:a16="http://schemas.microsoft.com/office/drawing/2014/main" val="10002"/>
                  </a:ext>
                </a:extLst>
              </a:tr>
              <a:tr h="329184">
                <a:tc>
                  <a:txBody>
                    <a:bodyPr/>
                    <a:lstStyle/>
                    <a:p>
                      <a:pPr algn="l"/>
                      <a:r>
                        <a:rPr sz="1300" b="1">
                          <a:solidFill>
                            <a:srgbClr val="0B1F3A"/>
                          </a:solidFill>
                        </a:rPr>
                        <a:t>Durban</a:t>
                      </a:r>
                    </a:p>
                  </a:txBody>
                  <a:tcPr marL="60000" marR="60000" marT="20000" marB="20000" anchor="ctr">
                    <a:solidFill>
                      <a:srgbClr val="EEF2F8"/>
                    </a:solidFill>
                  </a:tcPr>
                </a:tc>
                <a:tc>
                  <a:txBody>
                    <a:bodyPr/>
                    <a:lstStyle/>
                    <a:p>
                      <a:pPr algn="ctr"/>
                      <a:r>
                        <a:rPr sz="1300" b="1">
                          <a:solidFill>
                            <a:srgbClr val="FFFFFF"/>
                          </a:solidFill>
                        </a:rPr>
                        <a:t>R385.57</a:t>
                      </a:r>
                    </a:p>
                  </a:txBody>
                  <a:tcPr marL="60000" marR="60000" marT="20000" marB="20000" anchor="ctr">
                    <a:solidFill>
                      <a:srgbClr val="798EA7"/>
                    </a:solidFill>
                  </a:tcPr>
                </a:tc>
                <a:tc>
                  <a:txBody>
                    <a:bodyPr/>
                    <a:lstStyle/>
                    <a:p>
                      <a:pPr algn="ctr"/>
                      <a:r>
                        <a:rPr sz="1300" b="1">
                          <a:solidFill>
                            <a:srgbClr val="FFFFFF"/>
                          </a:solidFill>
                        </a:rPr>
                        <a:t>R393.76</a:t>
                      </a:r>
                    </a:p>
                  </a:txBody>
                  <a:tcPr marL="60000" marR="60000" marT="20000" marB="20000" anchor="ctr">
                    <a:solidFill>
                      <a:srgbClr val="6E84A0"/>
                    </a:solidFill>
                  </a:tcPr>
                </a:tc>
                <a:tc>
                  <a:txBody>
                    <a:bodyPr/>
                    <a:lstStyle/>
                    <a:p>
                      <a:pPr algn="ctr"/>
                      <a:r>
                        <a:rPr sz="1300" b="1">
                          <a:solidFill>
                            <a:srgbClr val="FFFFFF"/>
                          </a:solidFill>
                        </a:rPr>
                        <a:t>R380.59</a:t>
                      </a:r>
                    </a:p>
                  </a:txBody>
                  <a:tcPr marL="60000" marR="60000" marT="20000" marB="20000" anchor="ctr">
                    <a:solidFill>
                      <a:srgbClr val="7F94AC"/>
                    </a:solidFill>
                  </a:tcPr>
                </a:tc>
                <a:tc>
                  <a:txBody>
                    <a:bodyPr/>
                    <a:lstStyle/>
                    <a:p>
                      <a:pPr algn="ctr"/>
                      <a:r>
                        <a:rPr sz="1300" b="0">
                          <a:solidFill>
                            <a:srgbClr val="0B1F3A"/>
                          </a:solidFill>
                        </a:rPr>
                        <a:t>R376.78</a:t>
                      </a:r>
                    </a:p>
                  </a:txBody>
                  <a:tcPr marL="60000" marR="60000" marT="20000" marB="20000" anchor="ctr">
                    <a:solidFill>
                      <a:srgbClr val="8498AF"/>
                    </a:solidFill>
                  </a:tcPr>
                </a:tc>
                <a:extLst>
                  <a:ext uri="{0D108BD9-81ED-4DB2-BD59-A6C34878D82A}">
                    <a16:rowId xmlns:a16="http://schemas.microsoft.com/office/drawing/2014/main" val="10003"/>
                  </a:ext>
                </a:extLst>
              </a:tr>
              <a:tr h="329184">
                <a:tc>
                  <a:txBody>
                    <a:bodyPr/>
                    <a:lstStyle/>
                    <a:p>
                      <a:pPr algn="l"/>
                      <a:r>
                        <a:rPr sz="1300" b="1">
                          <a:solidFill>
                            <a:srgbClr val="0B1F3A"/>
                          </a:solidFill>
                        </a:rPr>
                        <a:t>Pretoria</a:t>
                      </a:r>
                    </a:p>
                  </a:txBody>
                  <a:tcPr marL="60000" marR="60000" marT="20000" marB="20000" anchor="ctr">
                    <a:solidFill>
                      <a:srgbClr val="EEF2F8"/>
                    </a:solidFill>
                  </a:tcPr>
                </a:tc>
                <a:tc>
                  <a:txBody>
                    <a:bodyPr/>
                    <a:lstStyle/>
                    <a:p>
                      <a:pPr algn="ctr"/>
                      <a:r>
                        <a:rPr sz="1300" b="0">
                          <a:solidFill>
                            <a:srgbClr val="0B1F3A"/>
                          </a:solidFill>
                        </a:rPr>
                        <a:t>R354.55</a:t>
                      </a:r>
                    </a:p>
                  </a:txBody>
                  <a:tcPr marL="60000" marR="60000" marT="20000" marB="20000" anchor="ctr">
                    <a:solidFill>
                      <a:srgbClr val="A0B3C2"/>
                    </a:solidFill>
                  </a:tcPr>
                </a:tc>
                <a:tc>
                  <a:txBody>
                    <a:bodyPr/>
                    <a:lstStyle/>
                    <a:p>
                      <a:pPr algn="ctr"/>
                      <a:r>
                        <a:rPr sz="1300" b="0">
                          <a:solidFill>
                            <a:srgbClr val="0B1F3A"/>
                          </a:solidFill>
                        </a:rPr>
                        <a:t>R352.96</a:t>
                      </a:r>
                    </a:p>
                  </a:txBody>
                  <a:tcPr marL="60000" marR="60000" marT="20000" marB="20000" anchor="ctr">
                    <a:solidFill>
                      <a:srgbClr val="A2B5C3"/>
                    </a:solidFill>
                  </a:tcPr>
                </a:tc>
                <a:tc>
                  <a:txBody>
                    <a:bodyPr/>
                    <a:lstStyle/>
                    <a:p>
                      <a:pPr algn="ctr"/>
                      <a:r>
                        <a:rPr sz="1300" b="0">
                          <a:solidFill>
                            <a:srgbClr val="0B1F3A"/>
                          </a:solidFill>
                        </a:rPr>
                        <a:t>R350.75</a:t>
                      </a:r>
                    </a:p>
                  </a:txBody>
                  <a:tcPr marL="60000" marR="60000" marT="20000" marB="20000" anchor="ctr">
                    <a:solidFill>
                      <a:srgbClr val="A5B7C5"/>
                    </a:solidFill>
                  </a:tcPr>
                </a:tc>
                <a:tc>
                  <a:txBody>
                    <a:bodyPr/>
                    <a:lstStyle/>
                    <a:p>
                      <a:pPr algn="ctr"/>
                      <a:r>
                        <a:rPr sz="1300" b="0">
                          <a:solidFill>
                            <a:srgbClr val="0B1F3A"/>
                          </a:solidFill>
                        </a:rPr>
                        <a:t>R368.87</a:t>
                      </a:r>
                    </a:p>
                  </a:txBody>
                  <a:tcPr marL="60000" marR="60000" marT="20000" marB="20000" anchor="ctr">
                    <a:solidFill>
                      <a:srgbClr val="8EA2B6"/>
                    </a:solidFill>
                  </a:tcPr>
                </a:tc>
                <a:extLst>
                  <a:ext uri="{0D108BD9-81ED-4DB2-BD59-A6C34878D82A}">
                    <a16:rowId xmlns:a16="http://schemas.microsoft.com/office/drawing/2014/main" val="10004"/>
                  </a:ext>
                </a:extLst>
              </a:tr>
              <a:tr h="329184">
                <a:tc>
                  <a:txBody>
                    <a:bodyPr/>
                    <a:lstStyle/>
                    <a:p>
                      <a:pPr algn="l"/>
                      <a:r>
                        <a:rPr sz="1300" b="1">
                          <a:solidFill>
                            <a:srgbClr val="0B1F3A"/>
                          </a:solidFill>
                        </a:rPr>
                        <a:t>Gqeberha</a:t>
                      </a:r>
                    </a:p>
                  </a:txBody>
                  <a:tcPr marL="60000" marR="60000" marT="20000" marB="20000" anchor="ctr">
                    <a:solidFill>
                      <a:srgbClr val="EEF2F8"/>
                    </a:solidFill>
                  </a:tcPr>
                </a:tc>
                <a:tc>
                  <a:txBody>
                    <a:bodyPr/>
                    <a:lstStyle/>
                    <a:p>
                      <a:pPr algn="ctr"/>
                      <a:r>
                        <a:rPr sz="1300" b="0">
                          <a:solidFill>
                            <a:srgbClr val="0B1F3A"/>
                          </a:solidFill>
                        </a:rPr>
                        <a:t>R319.51</a:t>
                      </a:r>
                    </a:p>
                  </a:txBody>
                  <a:tcPr marL="60000" marR="60000" marT="20000" marB="20000" anchor="ctr">
                    <a:solidFill>
                      <a:srgbClr val="CDDDE0"/>
                    </a:solidFill>
                  </a:tcPr>
                </a:tc>
                <a:tc>
                  <a:txBody>
                    <a:bodyPr/>
                    <a:lstStyle/>
                    <a:p>
                      <a:pPr algn="ctr"/>
                      <a:r>
                        <a:rPr sz="1300" b="0">
                          <a:solidFill>
                            <a:srgbClr val="0B1F3A"/>
                          </a:solidFill>
                        </a:rPr>
                        <a:t>R327.66</a:t>
                      </a:r>
                    </a:p>
                  </a:txBody>
                  <a:tcPr marL="60000" marR="60000" marT="20000" marB="20000" anchor="ctr">
                    <a:solidFill>
                      <a:srgbClr val="C3D3D9"/>
                    </a:solidFill>
                  </a:tcPr>
                </a:tc>
                <a:tc>
                  <a:txBody>
                    <a:bodyPr/>
                    <a:lstStyle/>
                    <a:p>
                      <a:pPr algn="ctr"/>
                      <a:r>
                        <a:rPr sz="1300" b="0">
                          <a:solidFill>
                            <a:srgbClr val="0B1F3A"/>
                          </a:solidFill>
                        </a:rPr>
                        <a:t>R332.02</a:t>
                      </a:r>
                    </a:p>
                  </a:txBody>
                  <a:tcPr marL="60000" marR="60000" marT="20000" marB="20000" anchor="ctr">
                    <a:solidFill>
                      <a:srgbClr val="BDCED5"/>
                    </a:solidFill>
                  </a:tcPr>
                </a:tc>
                <a:tc>
                  <a:txBody>
                    <a:bodyPr/>
                    <a:lstStyle/>
                    <a:p>
                      <a:pPr algn="ctr"/>
                      <a:r>
                        <a:rPr sz="1300" b="0">
                          <a:solidFill>
                            <a:srgbClr val="0B1F3A"/>
                          </a:solidFill>
                        </a:rPr>
                        <a:t>R321.12</a:t>
                      </a:r>
                    </a:p>
                  </a:txBody>
                  <a:tcPr marL="60000" marR="60000" marT="20000" marB="20000" anchor="ctr">
                    <a:solidFill>
                      <a:srgbClr val="CBDBDF"/>
                    </a:solidFill>
                  </a:tcPr>
                </a:tc>
                <a:extLst>
                  <a:ext uri="{0D108BD9-81ED-4DB2-BD59-A6C34878D82A}">
                    <a16:rowId xmlns:a16="http://schemas.microsoft.com/office/drawing/2014/main" val="10005"/>
                  </a:ext>
                </a:extLst>
              </a:tr>
              <a:tr h="329184">
                <a:tc>
                  <a:txBody>
                    <a:bodyPr/>
                    <a:lstStyle/>
                    <a:p>
                      <a:pPr algn="l"/>
                      <a:r>
                        <a:rPr sz="1300" b="1">
                          <a:solidFill>
                            <a:srgbClr val="0B1F3A"/>
                          </a:solidFill>
                        </a:rPr>
                        <a:t>Vanderbijlpark</a:t>
                      </a:r>
                    </a:p>
                  </a:txBody>
                  <a:tcPr marL="60000" marR="60000" marT="20000" marB="20000" anchor="ctr">
                    <a:solidFill>
                      <a:srgbClr val="EEF2F8"/>
                    </a:solidFill>
                  </a:tcPr>
                </a:tc>
                <a:tc>
                  <a:txBody>
                    <a:bodyPr/>
                    <a:lstStyle/>
                    <a:p>
                      <a:pPr algn="ctr"/>
                      <a:r>
                        <a:rPr sz="1300" b="0">
                          <a:solidFill>
                            <a:srgbClr val="0B1F3A"/>
                          </a:solidFill>
                        </a:rPr>
                        <a:t>R322.09</a:t>
                      </a:r>
                    </a:p>
                  </a:txBody>
                  <a:tcPr marL="60000" marR="60000" marT="20000" marB="20000" anchor="ctr">
                    <a:solidFill>
                      <a:srgbClr val="CADADE"/>
                    </a:solidFill>
                  </a:tcPr>
                </a:tc>
                <a:tc>
                  <a:txBody>
                    <a:bodyPr/>
                    <a:lstStyle/>
                    <a:p>
                      <a:pPr algn="ctr"/>
                      <a:r>
                        <a:rPr sz="1300" b="0">
                          <a:solidFill>
                            <a:srgbClr val="0B1F3A"/>
                          </a:solidFill>
                        </a:rPr>
                        <a:t>R319.24</a:t>
                      </a:r>
                    </a:p>
                  </a:txBody>
                  <a:tcPr marL="60000" marR="60000" marT="20000" marB="20000" anchor="ctr">
                    <a:solidFill>
                      <a:srgbClr val="CDDDE0"/>
                    </a:solidFill>
                  </a:tcPr>
                </a:tc>
                <a:tc>
                  <a:txBody>
                    <a:bodyPr/>
                    <a:lstStyle/>
                    <a:p>
                      <a:pPr algn="ctr"/>
                      <a:r>
                        <a:rPr sz="1300" b="0">
                          <a:solidFill>
                            <a:srgbClr val="0B1F3A"/>
                          </a:solidFill>
                        </a:rPr>
                        <a:t>R324.75</a:t>
                      </a:r>
                    </a:p>
                  </a:txBody>
                  <a:tcPr marL="60000" marR="60000" marT="20000" marB="20000" anchor="ctr">
                    <a:solidFill>
                      <a:srgbClr val="C6D6DC"/>
                    </a:solidFill>
                  </a:tcPr>
                </a:tc>
                <a:tc>
                  <a:txBody>
                    <a:bodyPr/>
                    <a:lstStyle/>
                    <a:p>
                      <a:pPr algn="ctr"/>
                      <a:r>
                        <a:rPr sz="1300" b="0">
                          <a:solidFill>
                            <a:srgbClr val="0B1F3A"/>
                          </a:solidFill>
                        </a:rPr>
                        <a:t>R327.45</a:t>
                      </a:r>
                    </a:p>
                  </a:txBody>
                  <a:tcPr marL="60000" marR="60000" marT="20000" marB="20000" anchor="ctr">
                    <a:solidFill>
                      <a:srgbClr val="C3D3D9"/>
                    </a:solidFill>
                  </a:tcPr>
                </a:tc>
                <a:extLst>
                  <a:ext uri="{0D108BD9-81ED-4DB2-BD59-A6C34878D82A}">
                    <a16:rowId xmlns:a16="http://schemas.microsoft.com/office/drawing/2014/main" val="10006"/>
                  </a:ext>
                </a:extLst>
              </a:tr>
              <a:tr h="329184">
                <a:tc>
                  <a:txBody>
                    <a:bodyPr/>
                    <a:lstStyle/>
                    <a:p>
                      <a:pPr algn="l"/>
                      <a:r>
                        <a:rPr sz="1300" b="1">
                          <a:solidFill>
                            <a:srgbClr val="0B1F3A"/>
                          </a:solidFill>
                        </a:rPr>
                        <a:t>Potchefstroom</a:t>
                      </a:r>
                    </a:p>
                  </a:txBody>
                  <a:tcPr marL="60000" marR="60000" marT="20000" marB="20000" anchor="ctr">
                    <a:solidFill>
                      <a:srgbClr val="EEF2F8"/>
                    </a:solidFill>
                  </a:tcPr>
                </a:tc>
                <a:tc>
                  <a:txBody>
                    <a:bodyPr/>
                    <a:lstStyle/>
                    <a:p>
                      <a:pPr algn="ctr"/>
                      <a:r>
                        <a:rPr sz="1300" b="0">
                          <a:solidFill>
                            <a:srgbClr val="0B1F3A"/>
                          </a:solidFill>
                        </a:rPr>
                        <a:t>R310.97</a:t>
                      </a:r>
                    </a:p>
                  </a:txBody>
                  <a:tcPr marL="60000" marR="60000" marT="20000" marB="20000" anchor="ctr">
                    <a:solidFill>
                      <a:srgbClr val="D8E7E7"/>
                    </a:solidFill>
                  </a:tcPr>
                </a:tc>
                <a:tc>
                  <a:txBody>
                    <a:bodyPr/>
                    <a:lstStyle/>
                    <a:p>
                      <a:pPr algn="ctr"/>
                      <a:r>
                        <a:rPr sz="1300" b="0">
                          <a:solidFill>
                            <a:srgbClr val="0B1F3A"/>
                          </a:solidFill>
                        </a:rPr>
                        <a:t>R300.31</a:t>
                      </a:r>
                    </a:p>
                  </a:txBody>
                  <a:tcPr marL="60000" marR="60000" marT="20000" marB="20000" anchor="ctr">
                    <a:solidFill>
                      <a:srgbClr val="E6F4F1"/>
                    </a:solidFill>
                  </a:tcPr>
                </a:tc>
                <a:tc>
                  <a:txBody>
                    <a:bodyPr/>
                    <a:lstStyle/>
                    <a:p>
                      <a:pPr algn="ctr"/>
                      <a:r>
                        <a:rPr sz="1300" b="0">
                          <a:solidFill>
                            <a:srgbClr val="0B1F3A"/>
                          </a:solidFill>
                        </a:rPr>
                        <a:t>R306.55</a:t>
                      </a:r>
                    </a:p>
                  </a:txBody>
                  <a:tcPr marL="60000" marR="60000" marT="20000" marB="20000" anchor="ctr">
                    <a:solidFill>
                      <a:srgbClr val="DEECEB"/>
                    </a:solidFill>
                  </a:tcPr>
                </a:tc>
                <a:tc>
                  <a:txBody>
                    <a:bodyPr/>
                    <a:lstStyle/>
                    <a:p>
                      <a:pPr algn="ctr"/>
                      <a:r>
                        <a:rPr sz="1300" b="0">
                          <a:solidFill>
                            <a:srgbClr val="0B1F3A"/>
                          </a:solidFill>
                        </a:rPr>
                        <a:t>R302.76</a:t>
                      </a:r>
                    </a:p>
                  </a:txBody>
                  <a:tcPr marL="60000" marR="60000" marT="20000" marB="20000" anchor="ctr">
                    <a:solidFill>
                      <a:srgbClr val="E2F1EE"/>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RQ6: Every city clears the R30.23 benchmark after estimated fuel</a:t>
            </a:r>
            <a:endParaRPr lang="en-US" sz="3200" dirty="0"/>
          </a:p>
        </p:txBody>
      </p:sp>
      <p:graphicFrame>
        <p:nvGraphicFramePr>
          <p:cNvPr id="3" name="Chart 0"/>
          <p:cNvGraphicFramePr/>
          <p:nvPr/>
        </p:nvGraphicFramePr>
        <p:xfrm>
          <a:off x="548640" y="1554480"/>
          <a:ext cx="73152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RQ6 headline"/>
          <p:cNvSpPr/>
          <p:nvPr/>
        </p:nvSpPr>
        <p:spPr>
          <a:xfrm>
            <a:off x="8229600" y="1645920"/>
            <a:ext cx="3410712" cy="210312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5" name="Text 2"/>
          <p:cNvSpPr txBox="1"/>
          <p:nvPr/>
        </p:nvSpPr>
        <p:spPr>
          <a:xfrm>
            <a:off x="8458200" y="1783080"/>
            <a:ext cx="3017520" cy="822960"/>
          </a:xfrm>
          <a:prstGeom prst="rect">
            <a:avLst/>
          </a:prstGeom>
          <a:noFill/>
          <a:ln/>
        </p:spPr>
        <p:txBody>
          <a:bodyPr wrap="square" lIns="0" tIns="0" rIns="0" bIns="0" rtlCol="0" anchor="t"/>
          <a:lstStyle/>
          <a:p>
            <a:pPr marL="0" indent="0">
              <a:buNone/>
            </a:pPr>
            <a:r>
              <a:rPr lang="en-US" sz="4400" b="1" dirty="0">
                <a:solidFill>
                  <a:schemeClr val="accent1"/>
                </a:solidFill>
              </a:rPr>
              <a:t>R262.52</a:t>
            </a:r>
            <a:endParaRPr lang="en-US" sz="4400" dirty="0"/>
          </a:p>
        </p:txBody>
      </p:sp>
      <p:sp>
        <p:nvSpPr>
          <p:cNvPr id="6" name="Text 3"/>
          <p:cNvSpPr txBox="1"/>
          <p:nvPr/>
        </p:nvSpPr>
        <p:spPr>
          <a:xfrm>
            <a:off x="8458200" y="2697480"/>
            <a:ext cx="3017520" cy="914400"/>
          </a:xfrm>
          <a:prstGeom prst="rect">
            <a:avLst/>
          </a:prstGeom>
          <a:noFill/>
          <a:ln/>
        </p:spPr>
        <p:txBody>
          <a:bodyPr wrap="square" lIns="0" tIns="0" rIns="0" bIns="0" rtlCol="0" anchor="t"/>
          <a:lstStyle/>
          <a:p>
            <a:pPr marL="0" indent="0">
              <a:buNone/>
            </a:pPr>
            <a:r>
              <a:rPr lang="en-US" sz="1400" dirty="0">
                <a:solidFill>
                  <a:schemeClr val="bg1"/>
                </a:solidFill>
              </a:rPr>
              <a:t>net per on-trip hour, against R28.79 and R30.23 benchmarks</a:t>
            </a:r>
            <a:endParaRPr lang="en-US" sz="1400" dirty="0"/>
          </a:p>
        </p:txBody>
      </p:sp>
      <p:sp>
        <p:nvSpPr>
          <p:cNvPr id="8" name="Text 5"/>
          <p:cNvSpPr txBox="1"/>
          <p:nvPr/>
        </p:nvSpPr>
        <p:spPr>
          <a:xfrm>
            <a:off x="8458200" y="4069080"/>
            <a:ext cx="3017520" cy="32004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RQ6: city moves net pay far more than the car does</a:t>
            </a:r>
            <a:endParaRPr lang="en-US" sz="3200" dirty="0"/>
          </a:p>
        </p:txBody>
      </p:sp>
      <p:sp>
        <p:nvSpPr>
          <p:cNvPr id="5" name="RQ4 takeaway"/>
          <p:cNvSpPr/>
          <p:nvPr/>
        </p:nvSpPr>
        <p:spPr>
          <a:xfrm>
            <a:off x="548640" y="5486400"/>
            <a:ext cx="11091672" cy="777240"/>
          </a:xfrm>
          <a:prstGeom prst="roundRect">
            <a:avLst>
              <a:gd name="adj" fmla="val 14118"/>
            </a:avLst>
          </a:prstGeom>
          <a:solidFill>
            <a:schemeClr val="bg2"/>
          </a:solidFill>
          <a:ln w="6350">
            <a:solidFill>
              <a:schemeClr val="bg2"/>
            </a:solidFill>
            <a:prstDash val="solid"/>
          </a:ln>
        </p:spPr>
        <p:txBody>
          <a:bodyPr/>
          <a:lstStyle/>
          <a:p>
            <a:endParaRPr lang="en-ZA"/>
          </a:p>
        </p:txBody>
      </p:sp>
      <p:sp>
        <p:nvSpPr>
          <p:cNvPr id="6" name="Text 2"/>
          <p:cNvSpPr txBox="1"/>
          <p:nvPr/>
        </p:nvSpPr>
        <p:spPr>
          <a:xfrm>
            <a:off x="731520" y="5559552"/>
            <a:ext cx="10725912" cy="640080"/>
          </a:xfrm>
          <a:prstGeom prst="rect">
            <a:avLst/>
          </a:prstGeom>
          <a:noFill/>
          <a:ln/>
        </p:spPr>
        <p:txBody>
          <a:bodyPr wrap="square" lIns="0" tIns="0" rIns="0" bIns="0" rtlCol="0" anchor="ctr"/>
          <a:lstStyle/>
          <a:p>
            <a:pPr marL="0" indent="0">
              <a:buNone/>
            </a:pPr>
            <a:r>
              <a:rPr lang="en-US" sz="1400" dirty="0">
                <a:solidFill>
                  <a:schemeClr val="tx1"/>
                </a:solidFill>
              </a:rPr>
              <a:t>Cities range from R218 to R333 per hour (a R115 spread); vehicle models only from R256 to R273 (R17). Where you drive matters far more than what you drive.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17</a:t>
            </a:fld>
            <a:endParaRPr lang="en-US"/>
          </a:p>
        </p:txBody>
      </p:sp>
      <p:graphicFrame>
        <p:nvGraphicFramePr>
          <p:cNvPr id="26" name="Chart 25"/>
          <p:cNvGraphicFramePr>
            <a:graphicFrameLocks noGrp="1"/>
          </p:cNvGraphicFramePr>
          <p:nvPr/>
        </p:nvGraphicFramePr>
        <p:xfrm>
          <a:off x="548640" y="1508760"/>
          <a:ext cx="548640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Chart 26"/>
          <p:cNvGraphicFramePr>
            <a:graphicFrameLocks noGrp="1"/>
          </p:cNvGraphicFramePr>
          <p:nvPr/>
        </p:nvGraphicFramePr>
        <p:xfrm>
          <a:off x="6309360" y="1508760"/>
          <a:ext cx="5330952" cy="38404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What the findings mean for drivers, platforms and policy</a:t>
            </a:r>
            <a:endParaRPr lang="en-US" sz="3200" dirty="0"/>
          </a:p>
        </p:txBody>
      </p:sp>
      <p:sp>
        <p:nvSpPr>
          <p:cNvPr id="3" name="Insight card 1"/>
          <p:cNvSpPr/>
          <p:nvPr/>
        </p:nvSpPr>
        <p:spPr>
          <a:xfrm>
            <a:off x="548640"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4" name="Insight badge 1"/>
          <p:cNvSpPr txBox="1"/>
          <p:nvPr/>
        </p:nvSpPr>
        <p:spPr>
          <a:xfrm>
            <a:off x="777240" y="187452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508760"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Drivers</a:t>
            </a:r>
            <a:endParaRPr lang="en-US" sz="2000" dirty="0"/>
          </a:p>
        </p:txBody>
      </p:sp>
      <p:sp>
        <p:nvSpPr>
          <p:cNvPr id="6" name="Text 4"/>
          <p:cNvSpPr txBox="1"/>
          <p:nvPr/>
        </p:nvSpPr>
        <p:spPr>
          <a:xfrm>
            <a:off x="777240"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Commission is the clearest lever: Bolt keeps R26 more per trip than Uber</a:t>
            </a:r>
            <a:endParaRPr lang="en-US" sz="1600" dirty="0"/>
          </a:p>
          <a:p>
            <a:pPr marL="342900" indent="-342900">
              <a:spcAft>
                <a:spcPts val="1400"/>
              </a:spcAft>
              <a:buSzPct val="100000"/>
              <a:buChar char="•"/>
            </a:pPr>
            <a:r>
              <a:rPr lang="en-US" sz="1600" dirty="0">
                <a:solidFill>
                  <a:schemeClr val="tx1"/>
                </a:solidFill>
              </a:rPr>
              <a:t>Operate in Cape Town where possible</a:t>
            </a:r>
            <a:endParaRPr lang="en-US" sz="1600" dirty="0"/>
          </a:p>
          <a:p>
            <a:pPr marL="342900" indent="-342900">
              <a:spcAft>
                <a:spcPts val="1400"/>
              </a:spcAft>
              <a:buSzPct val="100000"/>
              <a:buChar char="•"/>
            </a:pPr>
            <a:r>
              <a:rPr lang="en-US" sz="1600" dirty="0">
                <a:solidFill>
                  <a:schemeClr val="tx1"/>
                </a:solidFill>
              </a:rPr>
              <a:t>Chase surge and peak windows; short trips pay more per hour</a:t>
            </a:r>
            <a:endParaRPr lang="en-US" sz="1600" dirty="0"/>
          </a:p>
        </p:txBody>
      </p:sp>
      <p:sp>
        <p:nvSpPr>
          <p:cNvPr id="7" name="Insight card 2"/>
          <p:cNvSpPr/>
          <p:nvPr/>
        </p:nvSpPr>
        <p:spPr>
          <a:xfrm>
            <a:off x="4311396"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8" name="Insight badge 2"/>
          <p:cNvSpPr txBox="1"/>
          <p:nvPr/>
        </p:nvSpPr>
        <p:spPr>
          <a:xfrm>
            <a:off x="4539996" y="1874520"/>
            <a:ext cx="548640" cy="548640"/>
          </a:xfrm>
          <a:prstGeom prst="ellipse">
            <a:avLst/>
          </a:prstGeom>
          <a:solidFill>
            <a:schemeClr val="accent5"/>
          </a:solidFill>
          <a:ln w="6350">
            <a:solidFill>
              <a:schemeClr val="accent5"/>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7"/>
          <p:cNvSpPr txBox="1"/>
          <p:nvPr/>
        </p:nvSpPr>
        <p:spPr>
          <a:xfrm>
            <a:off x="5271516"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Platforms</a:t>
            </a:r>
            <a:endParaRPr lang="en-US" sz="2000" dirty="0"/>
          </a:p>
        </p:txBody>
      </p:sp>
      <p:sp>
        <p:nvSpPr>
          <p:cNvPr id="10" name="Text 8"/>
          <p:cNvSpPr txBox="1"/>
          <p:nvPr/>
        </p:nvSpPr>
        <p:spPr>
          <a:xfrm>
            <a:off x="4539996"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A 5-point commission gap moves driver retention by about 5 points</a:t>
            </a:r>
            <a:endParaRPr lang="en-US" sz="1600" dirty="0"/>
          </a:p>
          <a:p>
            <a:pPr marL="342900" indent="-342900">
              <a:spcAft>
                <a:spcPts val="1400"/>
              </a:spcAft>
              <a:buSzPct val="100000"/>
              <a:buChar char="•"/>
            </a:pPr>
            <a:r>
              <a:rPr lang="en-US" sz="1600" dirty="0">
                <a:solidFill>
                  <a:schemeClr val="tx1"/>
                </a:solidFill>
              </a:rPr>
              <a:t>Ride category is not a differentiator: payouts sit within R4</a:t>
            </a:r>
            <a:endParaRPr lang="en-US" sz="1600" dirty="0"/>
          </a:p>
          <a:p>
            <a:pPr marL="342900" indent="-342900">
              <a:spcAft>
                <a:spcPts val="1400"/>
              </a:spcAft>
              <a:buSzPct val="100000"/>
              <a:buChar char="•"/>
            </a:pPr>
            <a:r>
              <a:rPr lang="en-US" sz="1600" dirty="0">
                <a:solidFill>
                  <a:schemeClr val="tx1"/>
                </a:solidFill>
              </a:rPr>
              <a:t>Surge is where payout rises fastest</a:t>
            </a:r>
            <a:endParaRPr lang="en-US" sz="1600" dirty="0"/>
          </a:p>
        </p:txBody>
      </p:sp>
      <p:sp>
        <p:nvSpPr>
          <p:cNvPr id="11" name="Insight card 3"/>
          <p:cNvSpPr/>
          <p:nvPr/>
        </p:nvSpPr>
        <p:spPr>
          <a:xfrm>
            <a:off x="8074152"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12" name="Insight badge 3"/>
          <p:cNvSpPr txBox="1"/>
          <p:nvPr/>
        </p:nvSpPr>
        <p:spPr>
          <a:xfrm>
            <a:off x="8302752" y="1874520"/>
            <a:ext cx="548640" cy="548640"/>
          </a:xfrm>
          <a:prstGeom prst="ellipse">
            <a:avLst/>
          </a:prstGeom>
          <a:solidFill>
            <a:schemeClr val="accent3"/>
          </a:solidFill>
          <a:ln w="6350">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9034272"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Policy and advocacy</a:t>
            </a:r>
            <a:endParaRPr lang="en-US" sz="2000" dirty="0"/>
          </a:p>
        </p:txBody>
      </p:sp>
      <p:sp>
        <p:nvSpPr>
          <p:cNvPr id="14" name="Text 12"/>
          <p:cNvSpPr txBox="1"/>
          <p:nvPr/>
        </p:nvSpPr>
        <p:spPr>
          <a:xfrm>
            <a:off x="8302752"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Headline hourly pay clears R30.23 after fuel</a:t>
            </a:r>
            <a:endParaRPr lang="en-US" sz="1600" dirty="0"/>
          </a:p>
          <a:p>
            <a:pPr marL="342900" indent="-342900">
              <a:spcAft>
                <a:spcPts val="1400"/>
              </a:spcAft>
              <a:buSzPct val="100000"/>
              <a:buChar char="•"/>
            </a:pPr>
            <a:r>
              <a:rPr lang="en-US" sz="1600" dirty="0">
                <a:solidFill>
                  <a:schemeClr val="tx1"/>
                </a:solidFill>
              </a:rPr>
              <a:t>But idle time and vehicle costs are unmeasured</a:t>
            </a:r>
            <a:endParaRPr lang="en-US" sz="1600" dirty="0"/>
          </a:p>
          <a:p>
            <a:pPr marL="342900" indent="-342900">
              <a:spcAft>
                <a:spcPts val="1400"/>
              </a:spcAft>
              <a:buSzPct val="100000"/>
              <a:buChar char="•"/>
            </a:pPr>
            <a:r>
              <a:rPr lang="en-US" sz="1600" dirty="0">
                <a:solidFill>
                  <a:schemeClr val="tx1"/>
                </a:solidFill>
              </a:rPr>
              <a:t>Utilisation data is needed before calling it a living wage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91672" cy="1051560"/>
          </a:xfrm>
          <a:prstGeom prst="rect">
            <a:avLst/>
          </a:prstGeom>
          <a:noFill/>
          <a:ln/>
        </p:spPr>
        <p:txBody>
          <a:bodyPr wrap="square" lIns="0" tIns="0" rIns="0" bIns="0" rtlCol="0" anchor="t"/>
          <a:lstStyle/>
          <a:p>
            <a:pPr marL="0" indent="0" algn="l">
              <a:buNone/>
            </a:pPr>
            <a:r>
              <a:rPr lang="en-US" sz="3200" b="1" dirty="0">
                <a:solidFill>
                  <a:schemeClr val="bg1"/>
                </a:solidFill>
              </a:rPr>
              <a:t>Estimates, not profit, and where we go next</a:t>
            </a:r>
            <a:endParaRPr lang="en-US" sz="3200" dirty="0"/>
          </a:p>
        </p:txBody>
      </p:sp>
      <p:sp>
        <p:nvSpPr>
          <p:cNvPr id="3" name="Text 1"/>
          <p:cNvSpPr txBox="1"/>
          <p:nvPr/>
        </p:nvSpPr>
        <p:spPr>
          <a:xfrm>
            <a:off x="548640" y="1737360"/>
            <a:ext cx="5943600" cy="365760"/>
          </a:xfrm>
          <a:prstGeom prst="rect">
            <a:avLst/>
          </a:prstGeom>
          <a:noFill/>
          <a:ln/>
        </p:spPr>
        <p:txBody>
          <a:bodyPr wrap="square" lIns="0" tIns="0" rIns="0" bIns="0" rtlCol="0" anchor="t"/>
          <a:lstStyle/>
          <a:p>
            <a:pPr marL="0" indent="0">
              <a:buNone/>
            </a:pPr>
            <a:r>
              <a:rPr lang="en-US" sz="2000" b="1" dirty="0">
                <a:solidFill>
                  <a:schemeClr val="accent1"/>
                </a:solidFill>
              </a:rPr>
              <a:t>Limitations</a:t>
            </a:r>
            <a:endParaRPr lang="en-US" sz="2000" dirty="0"/>
          </a:p>
        </p:txBody>
      </p:sp>
      <p:sp>
        <p:nvSpPr>
          <p:cNvPr id="4" name="Text 2"/>
          <p:cNvSpPr txBox="1"/>
          <p:nvPr/>
        </p:nvSpPr>
        <p:spPr>
          <a:xfrm>
            <a:off x="548640" y="2240280"/>
            <a:ext cx="60350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Fuel cost uses model-level consumption assumptions and monthly Petrol 95 prices</a:t>
            </a:r>
            <a:endParaRPr lang="en-US" sz="1600" dirty="0"/>
          </a:p>
          <a:p>
            <a:pPr marL="342900" indent="-342900">
              <a:spcAft>
                <a:spcPts val="1000"/>
              </a:spcAft>
              <a:buSzPct val="100000"/>
              <a:buChar char="•"/>
            </a:pPr>
            <a:r>
              <a:rPr lang="en-US" sz="1600" dirty="0">
                <a:solidFill>
                  <a:schemeClr val="bg1"/>
                </a:solidFill>
              </a:rPr>
              <a:t>Hourly figures count trip time only, not waiting or idle time</a:t>
            </a:r>
            <a:endParaRPr lang="en-US" sz="1600" dirty="0"/>
          </a:p>
          <a:p>
            <a:pPr marL="342900" indent="-342900">
              <a:spcAft>
                <a:spcPts val="1000"/>
              </a:spcAft>
              <a:buSzPct val="100000"/>
              <a:buChar char="•"/>
            </a:pPr>
            <a:r>
              <a:rPr lang="en-US" sz="1600" dirty="0">
                <a:solidFill>
                  <a:schemeClr val="bg1"/>
                </a:solidFill>
              </a:rPr>
              <a:t>Maintenance, insurance, tyres and financing are not deducted</a:t>
            </a:r>
            <a:endParaRPr lang="en-US" sz="1600" dirty="0"/>
          </a:p>
          <a:p>
            <a:pPr marL="342900" indent="-342900">
              <a:spcAft>
                <a:spcPts val="1000"/>
              </a:spcAft>
              <a:buSzPct val="100000"/>
              <a:buChar char="•"/>
            </a:pPr>
            <a:r>
              <a:rPr lang="en-US" sz="1600" dirty="0">
                <a:solidFill>
                  <a:schemeClr val="bg1"/>
                </a:solidFill>
              </a:rPr>
              <a:t>Results show association, not causation</a:t>
            </a:r>
            <a:endParaRPr lang="en-US" sz="1600" dirty="0"/>
          </a:p>
          <a:p>
            <a:pPr marL="342900" indent="-342900">
              <a:spcAft>
                <a:spcPts val="1000"/>
              </a:spcAft>
              <a:buSzPct val="100000"/>
              <a:buChar char="•"/>
            </a:pPr>
            <a:r>
              <a:rPr lang="en-US" sz="1600" dirty="0">
                <a:solidFill>
                  <a:schemeClr val="bg1"/>
                </a:solidFill>
              </a:rPr>
              <a:t>Only about half of trips have a review record</a:t>
            </a:r>
            <a:endParaRPr lang="en-US" sz="1600" dirty="0"/>
          </a:p>
        </p:txBody>
      </p:sp>
      <p:sp>
        <p:nvSpPr>
          <p:cNvPr id="5" name="Text 3"/>
          <p:cNvSpPr txBox="1"/>
          <p:nvPr/>
        </p:nvSpPr>
        <p:spPr>
          <a:xfrm>
            <a:off x="548640" y="5394960"/>
            <a:ext cx="6035040" cy="822960"/>
          </a:xfrm>
          <a:prstGeom prst="rect">
            <a:avLst/>
          </a:prstGeom>
          <a:noFill/>
          <a:ln/>
        </p:spPr>
        <p:txBody>
          <a:bodyPr wrap="square" lIns="0" tIns="0" rIns="0" bIns="0" rtlCol="0" anchor="t"/>
          <a:lstStyle/>
          <a:p>
            <a:pPr marL="0" indent="0">
              <a:buNone/>
            </a:pPr>
            <a:endParaRPr lang="en-US" sz="1400" dirty="0"/>
          </a:p>
        </p:txBody>
      </p:sp>
      <p:sp>
        <p:nvSpPr>
          <p:cNvPr id="6" name="Questions circle"/>
          <p:cNvSpPr txBox="1"/>
          <p:nvPr/>
        </p:nvSpPr>
        <p:spPr>
          <a:xfrm>
            <a:off x="7863840" y="1737360"/>
            <a:ext cx="3474720" cy="3474720"/>
          </a:xfrm>
          <a:prstGeom prst="ellipse">
            <a:avLst/>
          </a:prstGeom>
          <a:solidFill>
            <a:schemeClr val="accent1"/>
          </a:solidFill>
          <a:ln w="6350">
            <a:solidFill>
              <a:schemeClr val="accent1"/>
            </a:solidFill>
          </a:ln>
        </p:spPr>
        <p:txBody>
          <a:bodyPr wrap="square" lIns="0" tIns="0" rIns="0" bIns="0" rtlCol="0" anchor="ctr"/>
          <a:lstStyle/>
          <a:p>
            <a:pPr marL="0" indent="0" algn="ctr">
              <a:buNone/>
            </a:pPr>
            <a:r>
              <a:rPr lang="en-US" sz="3600" b="1" dirty="0">
                <a:solidFill>
                  <a:schemeClr val="tx2"/>
                </a:solidFill>
              </a:rPr>
              <a:t>Questions?</a:t>
            </a:r>
            <a:endParaRPr lang="en-US" sz="3600" dirty="0"/>
          </a:p>
        </p:txBody>
      </p:sp>
      <p:sp>
        <p:nvSpPr>
          <p:cNvPr id="7" name="Text 5"/>
          <p:cNvSpPr txBox="1"/>
          <p:nvPr/>
        </p:nvSpPr>
        <p:spPr>
          <a:xfrm>
            <a:off x="7863840" y="5486400"/>
            <a:ext cx="3474720" cy="365760"/>
          </a:xfrm>
          <a:prstGeom prst="rect">
            <a:avLst/>
          </a:prstGeom>
          <a:noFill/>
          <a:ln/>
        </p:spPr>
        <p:txBody>
          <a:bodyPr wrap="square" lIns="0" tIns="0" rIns="0" bIns="0" rtlCol="0" anchor="t"/>
          <a:lstStyle/>
          <a:p>
            <a:pPr marL="0" indent="0" algn="ctr">
              <a:buNone/>
            </a:pPr>
            <a:r>
              <a:rPr lang="en-US" sz="1800" b="1" dirty="0">
                <a:solidFill>
                  <a:schemeClr val="bg1"/>
                </a:solidFill>
              </a:rPr>
              <a:t>Data Alchemists · Group 36</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Data Alchemists">
  <a:themeElements>
    <a:clrScheme name="Data Alchemists">
      <a:dk1>
        <a:srgbClr val="111827"/>
      </a:dk1>
      <a:lt1>
        <a:srgbClr val="FFFFFF"/>
      </a:lt1>
      <a:dk2>
        <a:srgbClr val="0B1F3A"/>
      </a:dk2>
      <a:lt2>
        <a:srgbClr val="EEF2F8"/>
      </a:lt2>
      <a:accent1>
        <a:srgbClr val="F5B700"/>
      </a:accent1>
      <a:accent2>
        <a:srgbClr val="1FA89A"/>
      </a:accent2>
      <a:accent3>
        <a:srgbClr val="E4572E"/>
      </a:accent3>
      <a:accent4>
        <a:srgbClr val="6B7A90"/>
      </a:accent4>
      <a:accent5>
        <a:srgbClr val="2E4A7D"/>
      </a:accent5>
      <a:accent6>
        <a:srgbClr val="9AD1C9"/>
      </a:accent6>
      <a:hlink>
        <a:srgbClr val="2E4A7D"/>
      </a:hlink>
      <a:folHlink>
        <a:srgbClr val="6B7A90"/>
      </a:folHlink>
    </a:clrScheme>
    <a:fontScheme name="Data Alchemis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3171</Words>
  <Application>Microsoft Office PowerPoint</Application>
  <PresentationFormat>Widescreen</PresentationFormat>
  <Paragraphs>488</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Data Alchemists</vt:lpstr>
      <vt:lpstr>PowerPoint Presentation</vt:lpstr>
      <vt:lpstr>Group 36 – Data Alchemists</vt:lpstr>
      <vt:lpstr>Objective, problem context and requirements</vt:lpstr>
      <vt:lpstr>Six questions follow the money from fare to wage</vt:lpstr>
      <vt:lpstr>The dataset: 50,000 trips across seven cities</vt:lpstr>
      <vt:lpstr>A constrained PostgreSQL schema built for analysis</vt:lpstr>
      <vt:lpstr>Database design: ERD with keys and relationships</vt:lpstr>
      <vt:lpstr>From CSV files to a validated, indexed database</vt:lpstr>
      <vt:lpstr>SQL techniques: advanced SQL in every question</vt:lpstr>
      <vt:lpstr>Advanced SQL, tested for performance</vt:lpstr>
      <vt:lpstr>RQ1–2: Bolt drivers keep about R26 more per trip than Uber drivers</vt:lpstr>
      <vt:lpstr>RQ3: Ride category barely changes what a driver earns</vt:lpstr>
      <vt:lpstr>RQ4: Distance and surge drive payout; tips barely register</vt:lpstr>
      <vt:lpstr>RQ4 proof: surge, not the clock, lifts peak pay</vt:lpstr>
      <vt:lpstr>RQ5: City beats category, and Cape Town takes the top four spots</vt:lpstr>
      <vt:lpstr>RQ6: Every city clears the R30.23 benchmark after estimated fuel</vt:lpstr>
      <vt:lpstr>RQ6: city moves net pay far more than the car does</vt:lpstr>
      <vt:lpstr>What the findings mean for drivers, platforms and policy</vt:lpstr>
      <vt:lpstr>Estimates, not profit, and where we go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 – Driver Earnings, Commission &amp; Payout Optimisation</dc:title>
  <dc:subject>PptxGenJS Presentation</dc:subject>
  <dc:creator>Data Alchemists – Group 36</dc:creator>
  <cp:lastModifiedBy>KP Mabote</cp:lastModifiedBy>
  <cp:revision>2</cp:revision>
  <dcterms:created xsi:type="dcterms:W3CDTF">2026-10-11T11:29:17Z</dcterms:created>
  <dcterms:modified xsi:type="dcterms:W3CDTF">2026-10-15T19:50:44Z</dcterms:modified>
</cp:coreProperties>
</file>